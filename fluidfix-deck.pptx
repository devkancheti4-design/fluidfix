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line. It does two things: repairs what it can prove, refuses what it cannot. Zero tokens, runs where the tests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fixes in real repositories are tiny and local: one file, a few lines. Measured over the full histories of three engines: raylib 85%, cglm 61%, Box2D 41% of fix commits touch exactly one file. The suite already catches these. Then a person spends the afternoon on one flipped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this gets done now. A person, at the cost of their afternoon and their focus. Or an agent: measured head to head on the same real Box2D defect, an unaided agent needed 43,006 tokens and 74 seconds to restore one flipped sign; fluidfix needed zero tokens and 6 seconds. And a plausible fix that passes the tests can still be the wrong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runs where your tests run: a GitHub Action, a cron job, a CI gate. When the suite goes red it finds the line, restores it, reruns your tests, and commits. When it cannot prove the fix, it refuses, leaves every byte alone, and writes down why. Seconds, not afternoons; zero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an engineering lead lets this commit to their branch: a wrong repair cannot land. Your tests are the only judge; anything they reject is rolled back byte for byte; when two fixes both pass, it refuses and writes the test that separates them; a crash mid-write is undone on the next run. Measured: zero wrong repairs in 64 runs on Python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of the box it repairs thirteen shapes of mechanical bug. The part that compounds: every incident you have had becomes a class it repairs from then on, from one example. Real history: one example from a 2016 cglm commit produced the correct repair for four fixes spanning 2016 to 2023 across four files. Your incident log is the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has a file behind it in the public repository; the scripts, logs and results are committed. Lead with the first row: byte-exact repairs and zero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they ask; engineers buy from people who state scope. It needs a test suite. It repairs one file at a time. C, C++, Java and C# are alpha. A shape it has never been shown is refused until you show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and open source for everything, forever — the product is public and verifiable. For a team, the pilot is the honest first step: six weeks, we run it against their history and suite, and hand back the number nobody has: how many of their regressions are this shape and what it would have saved. Credited in full against a licence. No per-seat pricing, because it costs nothing per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twenty minutes with one of their repositories, and they leave with a number. Leave the contact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AUTOMATED REPAIR, JUDGED BY YOUR TESTS</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1</a:t>
            </a:r>
            <a:endParaRPr lang="en-US" sz="900" dirty="0"/>
          </a:p>
        </p:txBody>
      </p:sp>
      <p:sp>
        <p:nvSpPr>
          <p:cNvPr id="8" name="Shape 5"/>
          <p:cNvSpPr/>
          <p:nvPr/>
        </p:nvSpPr>
        <p:spPr>
          <a:xfrm>
            <a:off x="640080" y="2148840"/>
            <a:ext cx="731520" cy="731520"/>
          </a:xfrm>
          <a:prstGeom prst="roundRect">
            <a:avLst>
              <a:gd name="adj" fmla="val 20000"/>
            </a:avLst>
          </a:prstGeom>
          <a:solidFill>
            <a:srgbClr val="F2B441"/>
          </a:solidFill>
          <a:ln w="12700">
            <a:solidFill>
              <a:srgbClr val="F2B441"/>
            </a:solidFill>
            <a:prstDash val="solid"/>
          </a:ln>
        </p:spPr>
      </p:sp>
      <p:sp>
        <p:nvSpPr>
          <p:cNvPr id="9" name="Shape 6"/>
          <p:cNvSpPr/>
          <p:nvPr/>
        </p:nvSpPr>
        <p:spPr>
          <a:xfrm>
            <a:off x="859536" y="2368296"/>
            <a:ext cx="292608" cy="292608"/>
          </a:xfrm>
          <a:prstGeom prst="roundRect">
            <a:avLst>
              <a:gd name="adj" fmla="val 15625"/>
            </a:avLst>
          </a:prstGeom>
          <a:solidFill>
            <a:srgbClr val="0B0F14"/>
          </a:solidFill>
          <a:ln w="12700">
            <a:solidFill>
              <a:srgbClr val="0B0F14"/>
            </a:solidFill>
            <a:prstDash val="solid"/>
          </a:ln>
        </p:spPr>
      </p:sp>
      <p:sp>
        <p:nvSpPr>
          <p:cNvPr id="10" name="Text 7"/>
          <p:cNvSpPr txBox="1"/>
          <p:nvPr/>
        </p:nvSpPr>
        <p:spPr>
          <a:xfrm>
            <a:off x="1600200" y="1920240"/>
            <a:ext cx="7315200" cy="118872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fluidfix</a:t>
            </a:r>
            <a:endParaRPr lang="en-US" sz="6600" dirty="0"/>
          </a:p>
        </p:txBody>
      </p:sp>
      <p:sp>
        <p:nvSpPr>
          <p:cNvPr id="11" name="Text 8"/>
          <p:cNvSpPr txBox="1"/>
          <p:nvPr/>
        </p:nvSpPr>
        <p:spPr>
          <a:xfrm>
            <a:off x="640080" y="324612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Repairs the bug. </a:t>
            </a:r>
            <a:pPr indent="0" marL="0">
              <a:buNone/>
            </a:pPr>
            <a:r>
              <a:rPr lang="en-US" sz="3600" b="1" dirty="0">
                <a:solidFill>
                  <a:srgbClr val="F2B441"/>
                </a:solidFill>
                <a:latin typeface="Calibri" pitchFamily="34" charset="0"/>
                <a:ea typeface="Calibri" pitchFamily="34" charset="-122"/>
                <a:cs typeface="Calibri" pitchFamily="34" charset="-120"/>
              </a:rPr>
              <a:t>Refuses the guess.</a:t>
            </a:r>
            <a:endParaRPr lang="en-US" sz="3600" dirty="0"/>
          </a:p>
        </p:txBody>
      </p:sp>
      <p:sp>
        <p:nvSpPr>
          <p:cNvPr id="12" name="Text 9"/>
          <p:cNvSpPr txBox="1"/>
          <p:nvPr/>
        </p:nvSpPr>
        <p:spPr>
          <a:xfrm>
            <a:off x="640080" y="4206240"/>
            <a:ext cx="7680960" cy="1097280"/>
          </a:xfrm>
          <a:prstGeom prst="rect">
            <a:avLst/>
          </a:prstGeom>
          <a:noFill/>
          <a:ln/>
        </p:spPr>
        <p:txBody>
          <a:bodyPr wrap="square" lIns="0" tIns="0" rIns="0" bIns="0" rtlCol="0" anchor="t"/>
          <a:lstStyle/>
          <a:p>
            <a:pPr indent="0" marL="0">
              <a:spcAft>
                <a:spcPts val="800"/>
              </a:spcAft>
              <a:buNone/>
            </a:pPr>
            <a:r>
              <a:rPr lang="en-US" sz="1800" dirty="0">
                <a:solidFill>
                  <a:srgbClr val="8B95A2"/>
                </a:solidFill>
                <a:latin typeface="Calibri" pitchFamily="34" charset="0"/>
                <a:ea typeface="Calibri" pitchFamily="34" charset="-122"/>
                <a:cs typeface="Calibri" pitchFamily="34" charset="-120"/>
              </a:rPr>
              <a:t>A guard for your test suite. When a regression ships, it restores the line, byte-exact, and commits — or refuses and tells you why. Zero tokens. Unattended.</a:t>
            </a:r>
            <a:endParaRPr lang="en-US" sz="1800" dirty="0"/>
          </a:p>
        </p:txBody>
      </p:sp>
      <p:sp>
        <p:nvSpPr>
          <p:cNvPr id="13" name="Text 10"/>
          <p:cNvSpPr txBox="1"/>
          <p:nvPr/>
        </p:nvSpPr>
        <p:spPr>
          <a:xfrm>
            <a:off x="640080" y="5532120"/>
            <a:ext cx="7315200" cy="320040"/>
          </a:xfrm>
          <a:prstGeom prst="rect">
            <a:avLst/>
          </a:prstGeom>
          <a:noFill/>
          <a:ln/>
        </p:spPr>
        <p:txBody>
          <a:bodyPr wrap="square" lIns="0" tIns="0" rIns="0" bIns="0" rtlCol="0" anchor="ctr"/>
          <a:lstStyle/>
          <a:p>
            <a:pPr indent="0" marL="0">
              <a:buNone/>
            </a:pPr>
            <a:r>
              <a:rPr lang="en-US" sz="1100" dirty="0">
                <a:solidFill>
                  <a:srgbClr val="5A6572"/>
                </a:solidFill>
                <a:latin typeface="Courier New" pitchFamily="34" charset="0"/>
                <a:ea typeface="Courier New" pitchFamily="34" charset="-122"/>
                <a:cs typeface="Courier New" pitchFamily="34" charset="-120"/>
              </a:rPr>
              <a:t>Devieswar Kancheti  ·  devkancheti4@gmail.com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THE PROBLEM</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2</a:t>
            </a:r>
            <a:endParaRPr lang="en-US" sz="900" dirty="0"/>
          </a:p>
        </p:txBody>
      </p:sp>
      <p:sp>
        <p:nvSpPr>
          <p:cNvPr id="8" name="Text 5"/>
          <p:cNvSpPr txBox="1"/>
          <p:nvPr/>
        </p:nvSpPr>
        <p:spPr>
          <a:xfrm>
            <a:off x="640080" y="960120"/>
            <a:ext cx="5486400" cy="10058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Most regressions are one file and a few lines. Each one still costs an afternoon.</a:t>
            </a:r>
            <a:endParaRPr lang="en-US" sz="2800" dirty="0"/>
          </a:p>
        </p:txBody>
      </p:sp>
      <p:sp>
        <p:nvSpPr>
          <p:cNvPr id="9" name="Text 6"/>
          <p:cNvSpPr txBox="1"/>
          <p:nvPr/>
        </p:nvSpPr>
        <p:spPr>
          <a:xfrm>
            <a:off x="640080" y="2697480"/>
            <a:ext cx="5394960" cy="301752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A teammate tidies a formula. One operator flips. The suite goes red.</a:t>
            </a:r>
            <a:endParaRPr lang="en-US" sz="1500" dirty="0"/>
          </a:p>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Your tests already catch it. Nothing puts it back.</a:t>
            </a:r>
            <a:endParaRPr lang="en-US" sz="1500" dirty="0"/>
          </a:p>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So a person context-switches, or an agent reads files it does not need, to restore one line.</a:t>
            </a:r>
            <a:endParaRPr lang="en-US" sz="1500" dirty="0"/>
          </a:p>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Across a year that is the maintenance budget: not the hard bugs, the many small ones.</a:t>
            </a:r>
            <a:endParaRPr lang="en-US" sz="1500" dirty="0"/>
          </a:p>
        </p:txBody>
      </p:sp>
      <p:sp>
        <p:nvSpPr>
          <p:cNvPr id="10" name="Shape 7"/>
          <p:cNvSpPr/>
          <p:nvPr/>
        </p:nvSpPr>
        <p:spPr>
          <a:xfrm>
            <a:off x="6492240" y="960120"/>
            <a:ext cx="5074920" cy="4937760"/>
          </a:xfrm>
          <a:prstGeom prst="roundRect">
            <a:avLst>
              <a:gd name="adj" fmla="val 2593"/>
            </a:avLst>
          </a:prstGeom>
          <a:solidFill>
            <a:srgbClr val="121821"/>
          </a:solidFill>
          <a:ln w="12700">
            <a:solidFill>
              <a:srgbClr val="1F2A36"/>
            </a:solidFill>
            <a:prstDash val="solid"/>
          </a:ln>
        </p:spPr>
      </p:sp>
      <p:sp>
        <p:nvSpPr>
          <p:cNvPr id="11" name="Text 8"/>
          <p:cNvSpPr txBox="1"/>
          <p:nvPr/>
        </p:nvSpPr>
        <p:spPr>
          <a:xfrm>
            <a:off x="6720840" y="1143000"/>
            <a:ext cx="4663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Share of real fix commits confined to one file</a:t>
            </a:r>
            <a:endParaRPr lang="en-US" sz="1400" dirty="0"/>
          </a:p>
        </p:txBody>
      </p:sp>
      <p:sp>
        <p:nvSpPr>
          <p:cNvPr id="12" name="Text 9"/>
          <p:cNvSpPr txBox="1"/>
          <p:nvPr/>
        </p:nvSpPr>
        <p:spPr>
          <a:xfrm>
            <a:off x="6720840" y="1481328"/>
            <a:ext cx="466344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full git history, fix-worded commits, source files only</a:t>
            </a:r>
            <a:endParaRPr lang="en-US" sz="900" dirty="0"/>
          </a:p>
        </p:txBody>
      </p:sp>
      <p:sp>
        <p:nvSpPr>
          <p:cNvPr id="13" name="Text 10"/>
          <p:cNvSpPr txBox="1"/>
          <p:nvPr/>
        </p:nvSpPr>
        <p:spPr>
          <a:xfrm>
            <a:off x="6720840" y="2148840"/>
            <a:ext cx="868680" cy="365760"/>
          </a:xfrm>
          <a:prstGeom prst="rect">
            <a:avLst/>
          </a:prstGeom>
          <a:noFill/>
          <a:ln/>
        </p:spPr>
        <p:txBody>
          <a:bodyPr wrap="square" lIns="0" tIns="0" rIns="0" bIns="0" rtlCol="0" anchor="ctr"/>
          <a:lstStyle/>
          <a:p>
            <a:pPr indent="0" marL="0">
              <a:buNone/>
            </a:pPr>
            <a:r>
              <a:rPr lang="en-US" sz="1400" b="1" dirty="0">
                <a:solidFill>
                  <a:srgbClr val="DDE3EA"/>
                </a:solidFill>
                <a:latin typeface="Calibri" pitchFamily="34" charset="0"/>
                <a:ea typeface="Calibri" pitchFamily="34" charset="-122"/>
                <a:cs typeface="Calibri" pitchFamily="34" charset="-120"/>
              </a:rPr>
              <a:t>raylib</a:t>
            </a:r>
            <a:endParaRPr lang="en-US" sz="1400" dirty="0"/>
          </a:p>
        </p:txBody>
      </p:sp>
      <p:sp>
        <p:nvSpPr>
          <p:cNvPr id="14" name="Shape 11"/>
          <p:cNvSpPr/>
          <p:nvPr/>
        </p:nvSpPr>
        <p:spPr>
          <a:xfrm>
            <a:off x="7635240" y="2203704"/>
            <a:ext cx="3017520" cy="256032"/>
          </a:xfrm>
          <a:prstGeom prst="roundRect">
            <a:avLst>
              <a:gd name="adj" fmla="val 21429"/>
            </a:avLst>
          </a:prstGeom>
          <a:solidFill>
            <a:srgbClr val="171F2A"/>
          </a:solidFill>
          <a:ln w="12700">
            <a:solidFill>
              <a:srgbClr val="171F2A"/>
            </a:solidFill>
            <a:prstDash val="solid"/>
          </a:ln>
        </p:spPr>
      </p:sp>
      <p:sp>
        <p:nvSpPr>
          <p:cNvPr id="15" name="Shape 12"/>
          <p:cNvSpPr/>
          <p:nvPr/>
        </p:nvSpPr>
        <p:spPr>
          <a:xfrm>
            <a:off x="7635240" y="2203704"/>
            <a:ext cx="2576962" cy="256032"/>
          </a:xfrm>
          <a:prstGeom prst="roundRect">
            <a:avLst>
              <a:gd name="adj" fmla="val 21429"/>
            </a:avLst>
          </a:prstGeom>
          <a:solidFill>
            <a:srgbClr val="F2B441"/>
          </a:solidFill>
          <a:ln w="12700">
            <a:solidFill>
              <a:srgbClr val="F2B441"/>
            </a:solidFill>
            <a:prstDash val="solid"/>
          </a:ln>
        </p:spPr>
      </p:sp>
      <p:sp>
        <p:nvSpPr>
          <p:cNvPr id="16" name="Text 13"/>
          <p:cNvSpPr txBox="1"/>
          <p:nvPr/>
        </p:nvSpPr>
        <p:spPr>
          <a:xfrm>
            <a:off x="10744200" y="2148840"/>
            <a:ext cx="731520" cy="365760"/>
          </a:xfrm>
          <a:prstGeom prst="rect">
            <a:avLst/>
          </a:prstGeom>
          <a:noFill/>
          <a:ln/>
        </p:spPr>
        <p:txBody>
          <a:bodyPr wrap="square" lIns="0" tIns="0" rIns="0" bIns="0" rtlCol="0" anchor="ctr"/>
          <a:lstStyle/>
          <a:p>
            <a:pPr indent="0" marL="0">
              <a:buNone/>
            </a:pPr>
            <a:r>
              <a:rPr lang="en-US" sz="1400" b="1" dirty="0">
                <a:solidFill>
                  <a:srgbClr val="F2B441"/>
                </a:solidFill>
                <a:latin typeface="Courier New" pitchFamily="34" charset="0"/>
                <a:ea typeface="Courier New" pitchFamily="34" charset="-122"/>
                <a:cs typeface="Courier New" pitchFamily="34" charset="-120"/>
              </a:rPr>
              <a:t>85%</a:t>
            </a:r>
            <a:endParaRPr lang="en-US" sz="1400" dirty="0"/>
          </a:p>
        </p:txBody>
      </p:sp>
      <p:sp>
        <p:nvSpPr>
          <p:cNvPr id="17" name="Text 14"/>
          <p:cNvSpPr txBox="1"/>
          <p:nvPr/>
        </p:nvSpPr>
        <p:spPr>
          <a:xfrm>
            <a:off x="7635240" y="2532888"/>
            <a:ext cx="393192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1,041 fix commits in the full history</a:t>
            </a:r>
            <a:endParaRPr lang="en-US" sz="900" dirty="0"/>
          </a:p>
        </p:txBody>
      </p:sp>
      <p:sp>
        <p:nvSpPr>
          <p:cNvPr id="18" name="Text 15"/>
          <p:cNvSpPr txBox="1"/>
          <p:nvPr/>
        </p:nvSpPr>
        <p:spPr>
          <a:xfrm>
            <a:off x="6720840" y="3154680"/>
            <a:ext cx="868680" cy="365760"/>
          </a:xfrm>
          <a:prstGeom prst="rect">
            <a:avLst/>
          </a:prstGeom>
          <a:noFill/>
          <a:ln/>
        </p:spPr>
        <p:txBody>
          <a:bodyPr wrap="square" lIns="0" tIns="0" rIns="0" bIns="0" rtlCol="0" anchor="ctr"/>
          <a:lstStyle/>
          <a:p>
            <a:pPr indent="0" marL="0">
              <a:buNone/>
            </a:pPr>
            <a:r>
              <a:rPr lang="en-US" sz="1400" b="1" dirty="0">
                <a:solidFill>
                  <a:srgbClr val="DDE3EA"/>
                </a:solidFill>
                <a:latin typeface="Calibri" pitchFamily="34" charset="0"/>
                <a:ea typeface="Calibri" pitchFamily="34" charset="-122"/>
                <a:cs typeface="Calibri" pitchFamily="34" charset="-120"/>
              </a:rPr>
              <a:t>cglm</a:t>
            </a:r>
            <a:endParaRPr lang="en-US" sz="1400" dirty="0"/>
          </a:p>
        </p:txBody>
      </p:sp>
      <p:sp>
        <p:nvSpPr>
          <p:cNvPr id="19" name="Shape 16"/>
          <p:cNvSpPr/>
          <p:nvPr/>
        </p:nvSpPr>
        <p:spPr>
          <a:xfrm>
            <a:off x="7635240" y="3209544"/>
            <a:ext cx="3017520" cy="256032"/>
          </a:xfrm>
          <a:prstGeom prst="roundRect">
            <a:avLst>
              <a:gd name="adj" fmla="val 21429"/>
            </a:avLst>
          </a:prstGeom>
          <a:solidFill>
            <a:srgbClr val="171F2A"/>
          </a:solidFill>
          <a:ln w="12700">
            <a:solidFill>
              <a:srgbClr val="171F2A"/>
            </a:solidFill>
            <a:prstDash val="solid"/>
          </a:ln>
        </p:spPr>
      </p:sp>
      <p:sp>
        <p:nvSpPr>
          <p:cNvPr id="20" name="Shape 17"/>
          <p:cNvSpPr/>
          <p:nvPr/>
        </p:nvSpPr>
        <p:spPr>
          <a:xfrm>
            <a:off x="7635240" y="3209544"/>
            <a:ext cx="1837670" cy="256032"/>
          </a:xfrm>
          <a:prstGeom prst="roundRect">
            <a:avLst>
              <a:gd name="adj" fmla="val 21429"/>
            </a:avLst>
          </a:prstGeom>
          <a:solidFill>
            <a:srgbClr val="F2B441"/>
          </a:solidFill>
          <a:ln w="12700">
            <a:solidFill>
              <a:srgbClr val="F2B441"/>
            </a:solidFill>
            <a:prstDash val="solid"/>
          </a:ln>
        </p:spPr>
      </p:sp>
      <p:sp>
        <p:nvSpPr>
          <p:cNvPr id="21" name="Text 18"/>
          <p:cNvSpPr txBox="1"/>
          <p:nvPr/>
        </p:nvSpPr>
        <p:spPr>
          <a:xfrm>
            <a:off x="10744200" y="3154680"/>
            <a:ext cx="731520" cy="365760"/>
          </a:xfrm>
          <a:prstGeom prst="rect">
            <a:avLst/>
          </a:prstGeom>
          <a:noFill/>
          <a:ln/>
        </p:spPr>
        <p:txBody>
          <a:bodyPr wrap="square" lIns="0" tIns="0" rIns="0" bIns="0" rtlCol="0" anchor="ctr"/>
          <a:lstStyle/>
          <a:p>
            <a:pPr indent="0" marL="0">
              <a:buNone/>
            </a:pPr>
            <a:r>
              <a:rPr lang="en-US" sz="1400" b="1" dirty="0">
                <a:solidFill>
                  <a:srgbClr val="F2B441"/>
                </a:solidFill>
                <a:latin typeface="Courier New" pitchFamily="34" charset="0"/>
                <a:ea typeface="Courier New" pitchFamily="34" charset="-122"/>
                <a:cs typeface="Courier New" pitchFamily="34" charset="-120"/>
              </a:rPr>
              <a:t>61%</a:t>
            </a:r>
            <a:endParaRPr lang="en-US" sz="1400" dirty="0"/>
          </a:p>
        </p:txBody>
      </p:sp>
      <p:sp>
        <p:nvSpPr>
          <p:cNvPr id="22" name="Text 19"/>
          <p:cNvSpPr txBox="1"/>
          <p:nvPr/>
        </p:nvSpPr>
        <p:spPr>
          <a:xfrm>
            <a:off x="7635240" y="3538728"/>
            <a:ext cx="393192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225 in the full history</a:t>
            </a:r>
            <a:endParaRPr lang="en-US" sz="900" dirty="0"/>
          </a:p>
        </p:txBody>
      </p:sp>
      <p:sp>
        <p:nvSpPr>
          <p:cNvPr id="23" name="Text 20"/>
          <p:cNvSpPr txBox="1"/>
          <p:nvPr/>
        </p:nvSpPr>
        <p:spPr>
          <a:xfrm>
            <a:off x="6720840" y="4160520"/>
            <a:ext cx="868680" cy="365760"/>
          </a:xfrm>
          <a:prstGeom prst="rect">
            <a:avLst/>
          </a:prstGeom>
          <a:noFill/>
          <a:ln/>
        </p:spPr>
        <p:txBody>
          <a:bodyPr wrap="square" lIns="0" tIns="0" rIns="0" bIns="0" rtlCol="0" anchor="ctr"/>
          <a:lstStyle/>
          <a:p>
            <a:pPr indent="0" marL="0">
              <a:buNone/>
            </a:pPr>
            <a:r>
              <a:rPr lang="en-US" sz="1400" b="1" dirty="0">
                <a:solidFill>
                  <a:srgbClr val="DDE3EA"/>
                </a:solidFill>
                <a:latin typeface="Calibri" pitchFamily="34" charset="0"/>
                <a:ea typeface="Calibri" pitchFamily="34" charset="-122"/>
                <a:cs typeface="Calibri" pitchFamily="34" charset="-120"/>
              </a:rPr>
              <a:t>Box2D</a:t>
            </a:r>
            <a:endParaRPr lang="en-US" sz="1400" dirty="0"/>
          </a:p>
        </p:txBody>
      </p:sp>
      <p:sp>
        <p:nvSpPr>
          <p:cNvPr id="24" name="Shape 21"/>
          <p:cNvSpPr/>
          <p:nvPr/>
        </p:nvSpPr>
        <p:spPr>
          <a:xfrm>
            <a:off x="7635240" y="4215384"/>
            <a:ext cx="3017520" cy="256032"/>
          </a:xfrm>
          <a:prstGeom prst="roundRect">
            <a:avLst>
              <a:gd name="adj" fmla="val 21429"/>
            </a:avLst>
          </a:prstGeom>
          <a:solidFill>
            <a:srgbClr val="171F2A"/>
          </a:solidFill>
          <a:ln w="12700">
            <a:solidFill>
              <a:srgbClr val="171F2A"/>
            </a:solidFill>
            <a:prstDash val="solid"/>
          </a:ln>
        </p:spPr>
      </p:sp>
      <p:sp>
        <p:nvSpPr>
          <p:cNvPr id="25" name="Shape 22"/>
          <p:cNvSpPr/>
          <p:nvPr/>
        </p:nvSpPr>
        <p:spPr>
          <a:xfrm>
            <a:off x="7635240" y="4215384"/>
            <a:ext cx="1246236" cy="256032"/>
          </a:xfrm>
          <a:prstGeom prst="roundRect">
            <a:avLst>
              <a:gd name="adj" fmla="val 21429"/>
            </a:avLst>
          </a:prstGeom>
          <a:solidFill>
            <a:srgbClr val="F2B441"/>
          </a:solidFill>
          <a:ln w="12700">
            <a:solidFill>
              <a:srgbClr val="F2B441"/>
            </a:solidFill>
            <a:prstDash val="solid"/>
          </a:ln>
        </p:spPr>
      </p:sp>
      <p:sp>
        <p:nvSpPr>
          <p:cNvPr id="26" name="Text 23"/>
          <p:cNvSpPr txBox="1"/>
          <p:nvPr/>
        </p:nvSpPr>
        <p:spPr>
          <a:xfrm>
            <a:off x="10744200" y="4160520"/>
            <a:ext cx="731520" cy="365760"/>
          </a:xfrm>
          <a:prstGeom prst="rect">
            <a:avLst/>
          </a:prstGeom>
          <a:noFill/>
          <a:ln/>
        </p:spPr>
        <p:txBody>
          <a:bodyPr wrap="square" lIns="0" tIns="0" rIns="0" bIns="0" rtlCol="0" anchor="ctr"/>
          <a:lstStyle/>
          <a:p>
            <a:pPr indent="0" marL="0">
              <a:buNone/>
            </a:pPr>
            <a:r>
              <a:rPr lang="en-US" sz="1400" b="1" dirty="0">
                <a:solidFill>
                  <a:srgbClr val="F2B441"/>
                </a:solidFill>
                <a:latin typeface="Courier New" pitchFamily="34" charset="0"/>
                <a:ea typeface="Courier New" pitchFamily="34" charset="-122"/>
                <a:cs typeface="Courier New" pitchFamily="34" charset="-120"/>
              </a:rPr>
              <a:t>41%</a:t>
            </a:r>
            <a:endParaRPr lang="en-US" sz="1400" dirty="0"/>
          </a:p>
        </p:txBody>
      </p:sp>
      <p:sp>
        <p:nvSpPr>
          <p:cNvPr id="27" name="Text 24"/>
          <p:cNvSpPr txBox="1"/>
          <p:nvPr/>
        </p:nvSpPr>
        <p:spPr>
          <a:xfrm>
            <a:off x="7635240" y="4544568"/>
            <a:ext cx="393192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300 in the full history</a:t>
            </a:r>
            <a:endParaRPr lang="en-US" sz="900" dirty="0"/>
          </a:p>
        </p:txBody>
      </p:sp>
      <p:sp>
        <p:nvSpPr>
          <p:cNvPr id="28" name="Text 25"/>
          <p:cNvSpPr txBox="1"/>
          <p:nvPr/>
        </p:nvSpPr>
        <p:spPr>
          <a:xfrm>
            <a:off x="6720840" y="5257800"/>
            <a:ext cx="4663440" cy="274320"/>
          </a:xfrm>
          <a:prstGeom prst="rect">
            <a:avLst/>
          </a:prstGeom>
          <a:noFill/>
          <a:ln/>
        </p:spPr>
        <p:txBody>
          <a:bodyPr wrap="square" lIns="0" tIns="0" rIns="0" bIns="0" rtlCol="0" anchor="ctr"/>
          <a:lstStyle/>
          <a:p>
            <a:pPr indent="0" marL="0">
              <a:buNone/>
            </a:pPr>
            <a:r>
              <a:rPr lang="en-US" sz="850" dirty="0">
                <a:solidFill>
                  <a:srgbClr val="5A6572"/>
                </a:solidFill>
                <a:latin typeface="Courier New" pitchFamily="34" charset="0"/>
                <a:ea typeface="Courier New" pitchFamily="34" charset="-122"/>
                <a:cs typeface="Courier New" pitchFamily="34" charset="-120"/>
              </a:rPr>
              <a:t>research/headtohead-2026-09-07/REACH.md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WHAT IT COSTS TODAY</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3</a:t>
            </a:r>
            <a:endParaRPr lang="en-US" sz="900" dirty="0"/>
          </a:p>
        </p:txBody>
      </p:sp>
      <p:sp>
        <p:nvSpPr>
          <p:cNvPr id="8" name="Text 5"/>
          <p:cNvSpPr txBox="1"/>
          <p:nvPr/>
        </p:nvSpPr>
        <p:spPr>
          <a:xfrm>
            <a:off x="640080" y="960120"/>
            <a:ext cx="10908792" cy="100584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Two ways it gets fixed now. Both expensive.</a:t>
            </a:r>
            <a:endParaRPr lang="en-US" sz="3200" dirty="0"/>
          </a:p>
        </p:txBody>
      </p:sp>
      <p:sp>
        <p:nvSpPr>
          <p:cNvPr id="9" name="Shape 6"/>
          <p:cNvSpPr/>
          <p:nvPr/>
        </p:nvSpPr>
        <p:spPr>
          <a:xfrm>
            <a:off x="640080" y="2103120"/>
            <a:ext cx="5303520" cy="3566160"/>
          </a:xfrm>
          <a:prstGeom prst="roundRect">
            <a:avLst>
              <a:gd name="adj" fmla="val 3590"/>
            </a:avLst>
          </a:prstGeom>
          <a:solidFill>
            <a:srgbClr val="121821"/>
          </a:solidFill>
          <a:ln w="12700">
            <a:solidFill>
              <a:srgbClr val="1F2A36"/>
            </a:solidFill>
            <a:prstDash val="solid"/>
          </a:ln>
        </p:spPr>
      </p:sp>
      <p:sp>
        <p:nvSpPr>
          <p:cNvPr id="10" name="Shape 7"/>
          <p:cNvSpPr/>
          <p:nvPr/>
        </p:nvSpPr>
        <p:spPr>
          <a:xfrm>
            <a:off x="6263640" y="2103120"/>
            <a:ext cx="5303520" cy="3566160"/>
          </a:xfrm>
          <a:prstGeom prst="roundRect">
            <a:avLst>
              <a:gd name="adj" fmla="val 3590"/>
            </a:avLst>
          </a:prstGeom>
          <a:solidFill>
            <a:srgbClr val="121821"/>
          </a:solidFill>
          <a:ln w="12700">
            <a:solidFill>
              <a:srgbClr val="1F2A36"/>
            </a:solidFill>
            <a:prstDash val="solid"/>
          </a:ln>
        </p:spPr>
      </p:sp>
      <p:sp>
        <p:nvSpPr>
          <p:cNvPr id="11" name="Text 8"/>
          <p:cNvSpPr txBox="1"/>
          <p:nvPr/>
        </p:nvSpPr>
        <p:spPr>
          <a:xfrm>
            <a:off x="914400" y="2331720"/>
            <a:ext cx="47548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 person</a:t>
            </a:r>
            <a:endParaRPr lang="en-US" sz="2000" dirty="0"/>
          </a:p>
        </p:txBody>
      </p:sp>
      <p:sp>
        <p:nvSpPr>
          <p:cNvPr id="12" name="Text 9"/>
          <p:cNvSpPr txBox="1"/>
          <p:nvPr/>
        </p:nvSpPr>
        <p:spPr>
          <a:xfrm>
            <a:off x="914400" y="2926080"/>
            <a:ext cx="4754880" cy="2560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DDE3EA"/>
                </a:solidFill>
                <a:latin typeface="Calibri" pitchFamily="34" charset="0"/>
                <a:ea typeface="Calibri" pitchFamily="34" charset="-122"/>
                <a:cs typeface="Calibri" pitchFamily="34" charset="-120"/>
              </a:rPr>
              <a:t>Drops what they were doing to find one line.</a:t>
            </a:r>
            <a:endParaRPr lang="en-US" sz="1400" dirty="0"/>
          </a:p>
          <a:p>
            <a:pPr marL="177800" indent="-177800">
              <a:spcAft>
                <a:spcPts val="1000"/>
              </a:spcAft>
              <a:buSzPct val="100000"/>
              <a:buChar char="•"/>
            </a:pPr>
            <a:r>
              <a:rPr lang="en-US" sz="1400" dirty="0">
                <a:solidFill>
                  <a:srgbClr val="DDE3EA"/>
                </a:solidFill>
                <a:latin typeface="Calibri" pitchFamily="34" charset="0"/>
                <a:ea typeface="Calibri" pitchFamily="34" charset="-122"/>
                <a:cs typeface="Calibri" pitchFamily="34" charset="-120"/>
              </a:rPr>
              <a:t>Reads the diff, reruns the suite, opens the PR, waits for review.</a:t>
            </a:r>
            <a:endParaRPr lang="en-US" sz="1400" dirty="0"/>
          </a:p>
          <a:p>
            <a:pPr marL="177800" indent="-177800">
              <a:spcAft>
                <a:spcPts val="1000"/>
              </a:spcAft>
              <a:buSzPct val="100000"/>
              <a:buChar char="•"/>
            </a:pPr>
            <a:r>
              <a:rPr lang="en-US" sz="1400" dirty="0">
                <a:solidFill>
                  <a:srgbClr val="DDE3EA"/>
                </a:solidFill>
                <a:latin typeface="Calibri" pitchFamily="34" charset="0"/>
                <a:ea typeface="Calibri" pitchFamily="34" charset="-122"/>
                <a:cs typeface="Calibri" pitchFamily="34" charset="-120"/>
              </a:rPr>
              <a:t>Repeats it next week for the next one — the same shapes come back.</a:t>
            </a:r>
            <a:endParaRPr lang="en-US" sz="1400" dirty="0"/>
          </a:p>
        </p:txBody>
      </p:sp>
      <p:sp>
        <p:nvSpPr>
          <p:cNvPr id="13" name="Text 10"/>
          <p:cNvSpPr txBox="1"/>
          <p:nvPr/>
        </p:nvSpPr>
        <p:spPr>
          <a:xfrm>
            <a:off x="6537960" y="2331720"/>
            <a:ext cx="47548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An agent</a:t>
            </a:r>
            <a:endParaRPr lang="en-US" sz="2000" dirty="0"/>
          </a:p>
        </p:txBody>
      </p:sp>
      <p:sp>
        <p:nvSpPr>
          <p:cNvPr id="14" name="Text 11"/>
          <p:cNvSpPr txBox="1"/>
          <p:nvPr/>
        </p:nvSpPr>
        <p:spPr>
          <a:xfrm>
            <a:off x="6537960" y="2880360"/>
            <a:ext cx="4754880" cy="64008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43,006</a:t>
            </a:r>
            <a:pPr indent="0" marL="0">
              <a:buNone/>
            </a:pPr>
            <a:r>
              <a:rPr lang="en-US" sz="1300" dirty="0">
                <a:solidFill>
                  <a:srgbClr val="DDE3EA"/>
                </a:solidFill>
              </a:rPr>
              <a:t>  tokens and 73.8 s to restore one flipped sign</a:t>
            </a:r>
            <a:endParaRPr lang="en-US" sz="3000" dirty="0"/>
          </a:p>
        </p:txBody>
      </p:sp>
      <p:sp>
        <p:nvSpPr>
          <p:cNvPr id="15" name="Text 12"/>
          <p:cNvSpPr txBox="1"/>
          <p:nvPr/>
        </p:nvSpPr>
        <p:spPr>
          <a:xfrm>
            <a:off x="6537960" y="3657600"/>
            <a:ext cx="4754880" cy="192024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DDE3EA"/>
                </a:solidFill>
                <a:latin typeface="Calibri" pitchFamily="34" charset="0"/>
                <a:ea typeface="Calibri" pitchFamily="34" charset="-122"/>
                <a:cs typeface="Calibri" pitchFamily="34" charset="-120"/>
              </a:rPr>
              <a:t>Reads files it does not need to reach the line it does.</a:t>
            </a:r>
            <a:endParaRPr lang="en-US" sz="1400" dirty="0"/>
          </a:p>
          <a:p>
            <a:pPr marL="177800" indent="-177800">
              <a:spcAft>
                <a:spcPts val="1000"/>
              </a:spcAft>
              <a:buSzPct val="100000"/>
              <a:buChar char="•"/>
            </a:pPr>
            <a:r>
              <a:rPr lang="en-US" sz="1400" dirty="0">
                <a:solidFill>
                  <a:srgbClr val="DDE3EA"/>
                </a:solidFill>
                <a:latin typeface="Calibri" pitchFamily="34" charset="0"/>
                <a:ea typeface="Calibri" pitchFamily="34" charset="-122"/>
                <a:cs typeface="Calibri" pitchFamily="34" charset="-120"/>
              </a:rPr>
              <a:t>A plausible fix that passes the tests can still be the wrong program — and it ships.</a:t>
            </a:r>
            <a:endParaRPr lang="en-US" sz="1400" dirty="0"/>
          </a:p>
          <a:p>
            <a:pPr marL="177800" indent="-177800">
              <a:spcAft>
                <a:spcPts val="1000"/>
              </a:spcAft>
              <a:buSzPct val="100000"/>
              <a:buChar char="•"/>
            </a:pPr>
            <a:r>
              <a:rPr lang="en-US" sz="1400" dirty="0">
                <a:solidFill>
                  <a:srgbClr val="DDE3EA"/>
                </a:solidFill>
                <a:latin typeface="Calibri" pitchFamily="34" charset="0"/>
                <a:ea typeface="Calibri" pitchFamily="34" charset="-122"/>
                <a:cs typeface="Calibri" pitchFamily="34" charset="-120"/>
              </a:rPr>
              <a:t>Same defect, fluidfix: 0 tokens, 6.3 s, byte-exact. Both arms preserved.</a:t>
            </a:r>
            <a:endParaRPr lang="en-US" sz="1400" dirty="0"/>
          </a:p>
        </p:txBody>
      </p:sp>
      <p:sp>
        <p:nvSpPr>
          <p:cNvPr id="16" name="Text 13"/>
          <p:cNvSpPr txBox="1"/>
          <p:nvPr/>
        </p:nvSpPr>
        <p:spPr>
          <a:xfrm>
            <a:off x="640080" y="5806440"/>
            <a:ext cx="10972800" cy="274320"/>
          </a:xfrm>
          <a:prstGeom prst="rect">
            <a:avLst/>
          </a:prstGeom>
          <a:noFill/>
          <a:ln/>
        </p:spPr>
        <p:txBody>
          <a:bodyPr wrap="square" lIns="0" tIns="0" rIns="0" bIns="0" rtlCol="0" anchor="ctr"/>
          <a:lstStyle/>
          <a:p>
            <a:pPr indent="0" marL="0">
              <a:buNone/>
            </a:pPr>
            <a:r>
              <a:rPr lang="en-US" sz="850" dirty="0">
                <a:solidFill>
                  <a:srgbClr val="5A6572"/>
                </a:solidFill>
                <a:latin typeface="Courier New" pitchFamily="34" charset="0"/>
                <a:ea typeface="Courier New" pitchFamily="34" charset="-122"/>
                <a:cs typeface="Courier New" pitchFamily="34" charset="-120"/>
              </a:rPr>
              <a:t>measured head to head on the same real Box2D defect · research/headtohead-2026-09-07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WHAT FLUIDFIX DOES</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4</a:t>
            </a:r>
            <a:endParaRPr lang="en-US" sz="900" dirty="0"/>
          </a:p>
        </p:txBody>
      </p:sp>
      <p:sp>
        <p:nvSpPr>
          <p:cNvPr id="8" name="Text 5"/>
          <p:cNvSpPr txBox="1"/>
          <p:nvPr/>
        </p:nvSpPr>
        <p:spPr>
          <a:xfrm>
            <a:off x="640080" y="960120"/>
            <a:ext cx="10515600" cy="10058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It runs where your tests run. Red goes green, or it tells you why not.</a:t>
            </a:r>
            <a:endParaRPr lang="en-US" sz="3000" dirty="0"/>
          </a:p>
        </p:txBody>
      </p:sp>
      <p:sp>
        <p:nvSpPr>
          <p:cNvPr id="9" name="Shape 6"/>
          <p:cNvSpPr/>
          <p:nvPr/>
        </p:nvSpPr>
        <p:spPr>
          <a:xfrm>
            <a:off x="640080" y="2423160"/>
            <a:ext cx="2514600" cy="1417320"/>
          </a:xfrm>
          <a:prstGeom prst="roundRect">
            <a:avLst>
              <a:gd name="adj" fmla="val 9032"/>
            </a:avLst>
          </a:prstGeom>
          <a:solidFill>
            <a:srgbClr val="121821"/>
          </a:solidFill>
          <a:ln w="12700">
            <a:solidFill>
              <a:srgbClr val="1F2A36"/>
            </a:solidFill>
            <a:prstDash val="solid"/>
          </a:ln>
        </p:spPr>
      </p:sp>
      <p:sp>
        <p:nvSpPr>
          <p:cNvPr id="10" name="Text 7"/>
          <p:cNvSpPr txBox="1"/>
          <p:nvPr/>
        </p:nvSpPr>
        <p:spPr>
          <a:xfrm>
            <a:off x="841248" y="2587752"/>
            <a:ext cx="2112264"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Suite goes red</a:t>
            </a:r>
            <a:endParaRPr lang="en-US" sz="1500" dirty="0"/>
          </a:p>
        </p:txBody>
      </p:sp>
      <p:sp>
        <p:nvSpPr>
          <p:cNvPr id="11" name="Text 8"/>
          <p:cNvSpPr txBox="1"/>
          <p:nvPr/>
        </p:nvSpPr>
        <p:spPr>
          <a:xfrm>
            <a:off x="841248" y="3063240"/>
            <a:ext cx="2112264" cy="685800"/>
          </a:xfrm>
          <a:prstGeom prst="rect">
            <a:avLst/>
          </a:prstGeom>
          <a:noFill/>
          <a:ln/>
        </p:spPr>
        <p:txBody>
          <a:bodyPr wrap="square" lIns="0" tIns="0" rIns="0" bIns="0" rtlCol="0" anchor="ctr"/>
          <a:lstStyle/>
          <a:p>
            <a:pPr indent="0" marL="0">
              <a:buNone/>
            </a:pPr>
            <a:r>
              <a:rPr lang="en-US" sz="1200" dirty="0">
                <a:solidFill>
                  <a:srgbClr val="8B95A2"/>
                </a:solidFill>
                <a:latin typeface="Calibri" pitchFamily="34" charset="0"/>
                <a:ea typeface="Calibri" pitchFamily="34" charset="-122"/>
                <a:cs typeface="Calibri" pitchFamily="34" charset="-120"/>
              </a:rPr>
              <a:t>a regression is committed; nobody has to notice</a:t>
            </a:r>
            <a:endParaRPr lang="en-US" sz="1200" dirty="0"/>
          </a:p>
        </p:txBody>
      </p:sp>
      <p:sp>
        <p:nvSpPr>
          <p:cNvPr id="12" name="Text 9"/>
          <p:cNvSpPr txBox="1"/>
          <p:nvPr/>
        </p:nvSpPr>
        <p:spPr>
          <a:xfrm>
            <a:off x="3172968" y="2834640"/>
            <a:ext cx="274320" cy="548640"/>
          </a:xfrm>
          <a:prstGeom prst="rect">
            <a:avLst/>
          </a:prstGeom>
          <a:noFill/>
          <a:ln/>
        </p:spPr>
        <p:txBody>
          <a:bodyPr wrap="square" lIns="0" tIns="0" rIns="0" bIns="0" rtlCol="0" anchor="ctr"/>
          <a:lstStyle/>
          <a:p>
            <a:pPr algn="ctr" indent="0" marL="0">
              <a:buNone/>
            </a:pPr>
            <a:r>
              <a:rPr lang="en-US" sz="2600" dirty="0">
                <a:solidFill>
                  <a:srgbClr val="F2B441"/>
                </a:solidFill>
                <a:latin typeface="Calibri" pitchFamily="34" charset="0"/>
                <a:ea typeface="Calibri" pitchFamily="34" charset="-122"/>
                <a:cs typeface="Calibri" pitchFamily="34" charset="-120"/>
              </a:rPr>
              <a:t>›</a:t>
            </a:r>
            <a:endParaRPr lang="en-US" sz="2600" dirty="0"/>
          </a:p>
        </p:txBody>
      </p:sp>
      <p:sp>
        <p:nvSpPr>
          <p:cNvPr id="13" name="Shape 10"/>
          <p:cNvSpPr/>
          <p:nvPr/>
        </p:nvSpPr>
        <p:spPr>
          <a:xfrm>
            <a:off x="3429000" y="2423160"/>
            <a:ext cx="2514600" cy="1417320"/>
          </a:xfrm>
          <a:prstGeom prst="roundRect">
            <a:avLst>
              <a:gd name="adj" fmla="val 9032"/>
            </a:avLst>
          </a:prstGeom>
          <a:solidFill>
            <a:srgbClr val="121821"/>
          </a:solidFill>
          <a:ln w="12700">
            <a:solidFill>
              <a:srgbClr val="1F2A36"/>
            </a:solidFill>
            <a:prstDash val="solid"/>
          </a:ln>
        </p:spPr>
      </p:sp>
      <p:sp>
        <p:nvSpPr>
          <p:cNvPr id="14" name="Text 11"/>
          <p:cNvSpPr txBox="1"/>
          <p:nvPr/>
        </p:nvSpPr>
        <p:spPr>
          <a:xfrm>
            <a:off x="3630168" y="2587752"/>
            <a:ext cx="2112264"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fluidfix finds the line</a:t>
            </a:r>
            <a:endParaRPr lang="en-US" sz="1500" dirty="0"/>
          </a:p>
        </p:txBody>
      </p:sp>
      <p:sp>
        <p:nvSpPr>
          <p:cNvPr id="15" name="Text 12"/>
          <p:cNvSpPr txBox="1"/>
          <p:nvPr/>
        </p:nvSpPr>
        <p:spPr>
          <a:xfrm>
            <a:off x="3630168" y="3063240"/>
            <a:ext cx="2112264" cy="685800"/>
          </a:xfrm>
          <a:prstGeom prst="rect">
            <a:avLst/>
          </a:prstGeom>
          <a:noFill/>
          <a:ln/>
        </p:spPr>
        <p:txBody>
          <a:bodyPr wrap="square" lIns="0" tIns="0" rIns="0" bIns="0" rtlCol="0" anchor="ctr"/>
          <a:lstStyle/>
          <a:p>
            <a:pPr indent="0" marL="0">
              <a:buNone/>
            </a:pPr>
            <a:r>
              <a:rPr lang="en-US" sz="1200" dirty="0">
                <a:solidFill>
                  <a:srgbClr val="8B95A2"/>
                </a:solidFill>
                <a:latin typeface="Calibri" pitchFamily="34" charset="0"/>
                <a:ea typeface="Calibri" pitchFamily="34" charset="-122"/>
                <a:cs typeface="Calibri" pitchFamily="34" charset="-120"/>
              </a:rPr>
              <a:t>from your failing tests, in seconds</a:t>
            </a:r>
            <a:endParaRPr lang="en-US" sz="1200" dirty="0"/>
          </a:p>
        </p:txBody>
      </p:sp>
      <p:sp>
        <p:nvSpPr>
          <p:cNvPr id="16" name="Text 13"/>
          <p:cNvSpPr txBox="1"/>
          <p:nvPr/>
        </p:nvSpPr>
        <p:spPr>
          <a:xfrm>
            <a:off x="5961888" y="2834640"/>
            <a:ext cx="274320" cy="548640"/>
          </a:xfrm>
          <a:prstGeom prst="rect">
            <a:avLst/>
          </a:prstGeom>
          <a:noFill/>
          <a:ln/>
        </p:spPr>
        <p:txBody>
          <a:bodyPr wrap="square" lIns="0" tIns="0" rIns="0" bIns="0" rtlCol="0" anchor="ctr"/>
          <a:lstStyle/>
          <a:p>
            <a:pPr algn="ctr" indent="0" marL="0">
              <a:buNone/>
            </a:pPr>
            <a:r>
              <a:rPr lang="en-US" sz="2600" dirty="0">
                <a:solidFill>
                  <a:srgbClr val="F2B441"/>
                </a:solidFill>
                <a:latin typeface="Calibri" pitchFamily="34" charset="0"/>
                <a:ea typeface="Calibri" pitchFamily="34" charset="-122"/>
                <a:cs typeface="Calibri" pitchFamily="34" charset="-120"/>
              </a:rPr>
              <a:t>›</a:t>
            </a:r>
            <a:endParaRPr lang="en-US" sz="2600" dirty="0"/>
          </a:p>
        </p:txBody>
      </p:sp>
      <p:sp>
        <p:nvSpPr>
          <p:cNvPr id="17" name="Shape 14"/>
          <p:cNvSpPr/>
          <p:nvPr/>
        </p:nvSpPr>
        <p:spPr>
          <a:xfrm>
            <a:off x="6217920" y="2423160"/>
            <a:ext cx="2514600" cy="1417320"/>
          </a:xfrm>
          <a:prstGeom prst="roundRect">
            <a:avLst>
              <a:gd name="adj" fmla="val 9032"/>
            </a:avLst>
          </a:prstGeom>
          <a:solidFill>
            <a:srgbClr val="121821"/>
          </a:solidFill>
          <a:ln w="12700">
            <a:solidFill>
              <a:srgbClr val="1F2A36"/>
            </a:solidFill>
            <a:prstDash val="solid"/>
          </a:ln>
        </p:spPr>
      </p:sp>
      <p:sp>
        <p:nvSpPr>
          <p:cNvPr id="18" name="Text 15"/>
          <p:cNvSpPr txBox="1"/>
          <p:nvPr/>
        </p:nvSpPr>
        <p:spPr>
          <a:xfrm>
            <a:off x="6419088" y="2587752"/>
            <a:ext cx="2112264"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Your tests judge the fix</a:t>
            </a:r>
            <a:endParaRPr lang="en-US" sz="1500" dirty="0"/>
          </a:p>
        </p:txBody>
      </p:sp>
      <p:sp>
        <p:nvSpPr>
          <p:cNvPr id="19" name="Text 16"/>
          <p:cNvSpPr txBox="1"/>
          <p:nvPr/>
        </p:nvSpPr>
        <p:spPr>
          <a:xfrm>
            <a:off x="6419088" y="3063240"/>
            <a:ext cx="2112264" cy="685800"/>
          </a:xfrm>
          <a:prstGeom prst="rect">
            <a:avLst/>
          </a:prstGeom>
          <a:noFill/>
          <a:ln/>
        </p:spPr>
        <p:txBody>
          <a:bodyPr wrap="square" lIns="0" tIns="0" rIns="0" bIns="0" rtlCol="0" anchor="ctr"/>
          <a:lstStyle/>
          <a:p>
            <a:pPr indent="0" marL="0">
              <a:buNone/>
            </a:pPr>
            <a:r>
              <a:rPr lang="en-US" sz="1200" dirty="0">
                <a:solidFill>
                  <a:srgbClr val="8B95A2"/>
                </a:solidFill>
                <a:latin typeface="Calibri" pitchFamily="34" charset="0"/>
                <a:ea typeface="Calibri" pitchFamily="34" charset="-122"/>
                <a:cs typeface="Calibri" pitchFamily="34" charset="-120"/>
              </a:rPr>
              <a:t>every candidate runs the whole suite</a:t>
            </a:r>
            <a:endParaRPr lang="en-US" sz="1200" dirty="0"/>
          </a:p>
        </p:txBody>
      </p:sp>
      <p:sp>
        <p:nvSpPr>
          <p:cNvPr id="20" name="Text 17"/>
          <p:cNvSpPr txBox="1"/>
          <p:nvPr/>
        </p:nvSpPr>
        <p:spPr>
          <a:xfrm>
            <a:off x="8750808" y="2834640"/>
            <a:ext cx="274320" cy="548640"/>
          </a:xfrm>
          <a:prstGeom prst="rect">
            <a:avLst/>
          </a:prstGeom>
          <a:noFill/>
          <a:ln/>
        </p:spPr>
        <p:txBody>
          <a:bodyPr wrap="square" lIns="0" tIns="0" rIns="0" bIns="0" rtlCol="0" anchor="ctr"/>
          <a:lstStyle/>
          <a:p>
            <a:pPr algn="ctr" indent="0" marL="0">
              <a:buNone/>
            </a:pPr>
            <a:r>
              <a:rPr lang="en-US" sz="2600" dirty="0">
                <a:solidFill>
                  <a:srgbClr val="F2B441"/>
                </a:solidFill>
                <a:latin typeface="Calibri" pitchFamily="34" charset="0"/>
                <a:ea typeface="Calibri" pitchFamily="34" charset="-122"/>
                <a:cs typeface="Calibri" pitchFamily="34" charset="-120"/>
              </a:rPr>
              <a:t>›</a:t>
            </a:r>
            <a:endParaRPr lang="en-US" sz="2600" dirty="0"/>
          </a:p>
        </p:txBody>
      </p:sp>
      <p:sp>
        <p:nvSpPr>
          <p:cNvPr id="21" name="Shape 18"/>
          <p:cNvSpPr/>
          <p:nvPr/>
        </p:nvSpPr>
        <p:spPr>
          <a:xfrm>
            <a:off x="9006840" y="2423160"/>
            <a:ext cx="2514600" cy="1417320"/>
          </a:xfrm>
          <a:prstGeom prst="roundRect">
            <a:avLst>
              <a:gd name="adj" fmla="val 9032"/>
            </a:avLst>
          </a:prstGeom>
          <a:solidFill>
            <a:srgbClr val="121821"/>
          </a:solidFill>
          <a:ln w="19050">
            <a:solidFill>
              <a:srgbClr val="F2B441"/>
            </a:solidFill>
            <a:prstDash val="solid"/>
          </a:ln>
        </p:spPr>
      </p:sp>
      <p:sp>
        <p:nvSpPr>
          <p:cNvPr id="22" name="Text 19"/>
          <p:cNvSpPr txBox="1"/>
          <p:nvPr/>
        </p:nvSpPr>
        <p:spPr>
          <a:xfrm>
            <a:off x="9208008" y="2587752"/>
            <a:ext cx="2112264"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Restored and committed</a:t>
            </a:r>
            <a:endParaRPr lang="en-US" sz="1500" dirty="0"/>
          </a:p>
        </p:txBody>
      </p:sp>
      <p:sp>
        <p:nvSpPr>
          <p:cNvPr id="23" name="Text 20"/>
          <p:cNvSpPr txBox="1"/>
          <p:nvPr/>
        </p:nvSpPr>
        <p:spPr>
          <a:xfrm>
            <a:off x="9208008" y="3063240"/>
            <a:ext cx="2112264" cy="685800"/>
          </a:xfrm>
          <a:prstGeom prst="rect">
            <a:avLst/>
          </a:prstGeom>
          <a:noFill/>
          <a:ln/>
        </p:spPr>
        <p:txBody>
          <a:bodyPr wrap="square" lIns="0" tIns="0" rIns="0" bIns="0" rtlCol="0" anchor="ctr"/>
          <a:lstStyle/>
          <a:p>
            <a:pPr indent="0" marL="0">
              <a:buNone/>
            </a:pPr>
            <a:r>
              <a:rPr lang="en-US" sz="1200" dirty="0">
                <a:solidFill>
                  <a:srgbClr val="8B95A2"/>
                </a:solidFill>
                <a:latin typeface="Calibri" pitchFamily="34" charset="0"/>
                <a:ea typeface="Calibri" pitchFamily="34" charset="-122"/>
                <a:cs typeface="Calibri" pitchFamily="34" charset="-120"/>
              </a:rPr>
              <a:t>byte-exact, as  fluidfix: restore file:line</a:t>
            </a:r>
            <a:endParaRPr lang="en-US" sz="1200" dirty="0"/>
          </a:p>
        </p:txBody>
      </p:sp>
      <p:sp>
        <p:nvSpPr>
          <p:cNvPr id="24" name="Shape 21"/>
          <p:cNvSpPr/>
          <p:nvPr/>
        </p:nvSpPr>
        <p:spPr>
          <a:xfrm>
            <a:off x="640080" y="4160520"/>
            <a:ext cx="10881360" cy="960120"/>
          </a:xfrm>
          <a:prstGeom prst="roundRect">
            <a:avLst>
              <a:gd name="adj" fmla="val 13333"/>
            </a:avLst>
          </a:prstGeom>
          <a:solidFill>
            <a:srgbClr val="121821"/>
          </a:solidFill>
          <a:ln w="12700">
            <a:solidFill>
              <a:srgbClr val="1F2A36"/>
            </a:solidFill>
            <a:prstDash val="solid"/>
          </a:ln>
        </p:spPr>
      </p:sp>
      <p:sp>
        <p:nvSpPr>
          <p:cNvPr id="25" name="Text 22"/>
          <p:cNvSpPr txBox="1"/>
          <p:nvPr/>
        </p:nvSpPr>
        <p:spPr>
          <a:xfrm>
            <a:off x="914400" y="4297680"/>
            <a:ext cx="10332720" cy="685800"/>
          </a:xfrm>
          <a:prstGeom prst="rect">
            <a:avLst/>
          </a:prstGeom>
          <a:noFill/>
          <a:ln/>
        </p:spPr>
        <p:txBody>
          <a:bodyPr wrap="square" lIns="0" tIns="0" rIns="0" bIns="0" rtlCol="0" anchor="ctr"/>
          <a:lstStyle/>
          <a:p>
            <a:pPr indent="0" marL="0">
              <a:buNone/>
            </a:pPr>
            <a:r>
              <a:rPr lang="en-US" sz="1400" b="1" dirty="0">
                <a:solidFill>
                  <a:srgbClr val="F2B441"/>
                </a:solidFill>
                <a:latin typeface="Calibri" pitchFamily="34" charset="0"/>
                <a:ea typeface="Calibri" pitchFamily="34" charset="-122"/>
                <a:cs typeface="Calibri" pitchFamily="34" charset="-120"/>
              </a:rPr>
              <a:t>Or it refuses. </a:t>
            </a:r>
            <a:pPr indent="0" marL="0">
              <a:buNone/>
            </a:pPr>
            <a:r>
              <a:rPr lang="en-US" sz="1400" dirty="0">
                <a:solidFill>
                  <a:srgbClr val="DDE3EA"/>
                </a:solidFill>
                <a:latin typeface="Calibri" pitchFamily="34" charset="0"/>
                <a:ea typeface="Calibri" pitchFamily="34" charset="-122"/>
                <a:cs typeface="Calibri" pitchFamily="34" charset="-120"/>
              </a:rPr>
              <a:t>A fix it cannot prove is never written: the tree stays byte-identical, exit code 2 for CI, and a report names what was tried and which test rejected it.</a:t>
            </a:r>
            <a:endParaRPr lang="en-US" sz="1400" dirty="0"/>
          </a:p>
        </p:txBody>
      </p:sp>
      <p:sp>
        <p:nvSpPr>
          <p:cNvPr id="26" name="Text 23"/>
          <p:cNvSpPr txBox="1"/>
          <p:nvPr/>
        </p:nvSpPr>
        <p:spPr>
          <a:xfrm>
            <a:off x="640080" y="5349240"/>
            <a:ext cx="10972800" cy="45720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Deploys as a GitHub Action, a cron job, or a CI gate.   ·   Python today; C/C++, Java and C# paths in alpha.   ·   No model, no tokens, nothing leaves your machine.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WHY YOU CAN TRUST IT</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5</a:t>
            </a:r>
            <a:endParaRPr lang="en-US" sz="900" dirty="0"/>
          </a:p>
        </p:txBody>
      </p:sp>
      <p:sp>
        <p:nvSpPr>
          <p:cNvPr id="8" name="Text 5"/>
          <p:cNvSpPr txBox="1"/>
          <p:nvPr/>
        </p:nvSpPr>
        <p:spPr>
          <a:xfrm>
            <a:off x="640080" y="960120"/>
            <a:ext cx="10908792" cy="10058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 wrong repair cannot land.</a:t>
            </a:r>
            <a:endParaRPr lang="en-US" sz="3400" dirty="0"/>
          </a:p>
        </p:txBody>
      </p:sp>
      <p:sp>
        <p:nvSpPr>
          <p:cNvPr id="9" name="Shape 6"/>
          <p:cNvSpPr/>
          <p:nvPr/>
        </p:nvSpPr>
        <p:spPr>
          <a:xfrm>
            <a:off x="640080" y="2084832"/>
            <a:ext cx="384048" cy="384048"/>
          </a:xfrm>
          <a:prstGeom prst="ellipse">
            <a:avLst/>
          </a:prstGeom>
          <a:solidFill>
            <a:srgbClr val="F2B441"/>
          </a:solidFill>
          <a:ln w="12700">
            <a:solidFill>
              <a:srgbClr val="F2B441"/>
            </a:solidFill>
            <a:prstDash val="solid"/>
          </a:ln>
        </p:spPr>
      </p:sp>
      <p:sp>
        <p:nvSpPr>
          <p:cNvPr id="10" name="Text 7"/>
          <p:cNvSpPr txBox="1"/>
          <p:nvPr/>
        </p:nvSpPr>
        <p:spPr>
          <a:xfrm>
            <a:off x="640080" y="2084832"/>
            <a:ext cx="384048" cy="384048"/>
          </a:xfrm>
          <a:prstGeom prst="rect">
            <a:avLst/>
          </a:prstGeom>
          <a:noFill/>
          <a:ln/>
        </p:spPr>
        <p:txBody>
          <a:bodyPr wrap="square" lIns="0" tIns="0" rIns="0" bIns="0" rtlCol="0" anchor="ctr"/>
          <a:lstStyle/>
          <a:p>
            <a:pPr algn="ctr" indent="0" marL="0">
              <a:buNone/>
            </a:pPr>
            <a:r>
              <a:rPr lang="en-US" sz="1600" b="1" dirty="0">
                <a:solidFill>
                  <a:srgbClr val="0B0F14"/>
                </a:solidFill>
                <a:latin typeface="Calibri" pitchFamily="34" charset="0"/>
                <a:ea typeface="Calibri" pitchFamily="34" charset="-122"/>
                <a:cs typeface="Calibri" pitchFamily="34" charset="-120"/>
              </a:rPr>
              <a:t>✓</a:t>
            </a:r>
            <a:endParaRPr lang="en-US" sz="1600" dirty="0"/>
          </a:p>
        </p:txBody>
      </p:sp>
      <p:sp>
        <p:nvSpPr>
          <p:cNvPr id="11" name="Text 8"/>
          <p:cNvSpPr txBox="1"/>
          <p:nvPr/>
        </p:nvSpPr>
        <p:spPr>
          <a:xfrm>
            <a:off x="1234440" y="2011680"/>
            <a:ext cx="5669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Your tests are the only judge</a:t>
            </a:r>
            <a:endParaRPr lang="en-US" sz="1600" dirty="0"/>
          </a:p>
        </p:txBody>
      </p:sp>
      <p:sp>
        <p:nvSpPr>
          <p:cNvPr id="12" name="Text 9"/>
          <p:cNvSpPr txBox="1"/>
          <p:nvPr/>
        </p:nvSpPr>
        <p:spPr>
          <a:xfrm>
            <a:off x="1234440" y="2377440"/>
            <a:ext cx="5669280" cy="50292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No model decides. Every candidate runs your whole suite before a byte is kept.</a:t>
            </a:r>
            <a:endParaRPr lang="en-US" sz="1250" dirty="0"/>
          </a:p>
        </p:txBody>
      </p:sp>
      <p:sp>
        <p:nvSpPr>
          <p:cNvPr id="13" name="Shape 10"/>
          <p:cNvSpPr/>
          <p:nvPr/>
        </p:nvSpPr>
        <p:spPr>
          <a:xfrm>
            <a:off x="640080" y="2980944"/>
            <a:ext cx="384048" cy="384048"/>
          </a:xfrm>
          <a:prstGeom prst="ellipse">
            <a:avLst/>
          </a:prstGeom>
          <a:solidFill>
            <a:srgbClr val="F2B441"/>
          </a:solidFill>
          <a:ln w="12700">
            <a:solidFill>
              <a:srgbClr val="F2B441"/>
            </a:solidFill>
            <a:prstDash val="solid"/>
          </a:ln>
        </p:spPr>
      </p:sp>
      <p:sp>
        <p:nvSpPr>
          <p:cNvPr id="14" name="Text 11"/>
          <p:cNvSpPr txBox="1"/>
          <p:nvPr/>
        </p:nvSpPr>
        <p:spPr>
          <a:xfrm>
            <a:off x="640080" y="2980944"/>
            <a:ext cx="384048" cy="384048"/>
          </a:xfrm>
          <a:prstGeom prst="rect">
            <a:avLst/>
          </a:prstGeom>
          <a:noFill/>
          <a:ln/>
        </p:spPr>
        <p:txBody>
          <a:bodyPr wrap="square" lIns="0" tIns="0" rIns="0" bIns="0" rtlCol="0" anchor="ctr"/>
          <a:lstStyle/>
          <a:p>
            <a:pPr algn="ctr" indent="0" marL="0">
              <a:buNone/>
            </a:pPr>
            <a:r>
              <a:rPr lang="en-US" sz="1600" b="1" dirty="0">
                <a:solidFill>
                  <a:srgbClr val="0B0F14"/>
                </a:solidFill>
                <a:latin typeface="Calibri" pitchFamily="34" charset="0"/>
                <a:ea typeface="Calibri" pitchFamily="34" charset="-122"/>
                <a:cs typeface="Calibri" pitchFamily="34" charset="-120"/>
              </a:rPr>
              <a:t>✓</a:t>
            </a:r>
            <a:endParaRPr lang="en-US" sz="1600" dirty="0"/>
          </a:p>
        </p:txBody>
      </p:sp>
      <p:sp>
        <p:nvSpPr>
          <p:cNvPr id="15" name="Text 12"/>
          <p:cNvSpPr txBox="1"/>
          <p:nvPr/>
        </p:nvSpPr>
        <p:spPr>
          <a:xfrm>
            <a:off x="1234440" y="2907792"/>
            <a:ext cx="5669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Rejected means rolled back</a:t>
            </a:r>
            <a:endParaRPr lang="en-US" sz="1600" dirty="0"/>
          </a:p>
        </p:txBody>
      </p:sp>
      <p:sp>
        <p:nvSpPr>
          <p:cNvPr id="16" name="Text 13"/>
          <p:cNvSpPr txBox="1"/>
          <p:nvPr/>
        </p:nvSpPr>
        <p:spPr>
          <a:xfrm>
            <a:off x="1234440" y="3273552"/>
            <a:ext cx="5669280" cy="50292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A candidate that fails is restored byte for byte, line endings included.</a:t>
            </a:r>
            <a:endParaRPr lang="en-US" sz="1250" dirty="0"/>
          </a:p>
        </p:txBody>
      </p:sp>
      <p:sp>
        <p:nvSpPr>
          <p:cNvPr id="17" name="Shape 14"/>
          <p:cNvSpPr/>
          <p:nvPr/>
        </p:nvSpPr>
        <p:spPr>
          <a:xfrm>
            <a:off x="640080" y="3877056"/>
            <a:ext cx="384048" cy="384048"/>
          </a:xfrm>
          <a:prstGeom prst="ellipse">
            <a:avLst/>
          </a:prstGeom>
          <a:solidFill>
            <a:srgbClr val="F2B441"/>
          </a:solidFill>
          <a:ln w="12700">
            <a:solidFill>
              <a:srgbClr val="F2B441"/>
            </a:solidFill>
            <a:prstDash val="solid"/>
          </a:ln>
        </p:spPr>
      </p:sp>
      <p:sp>
        <p:nvSpPr>
          <p:cNvPr id="18" name="Text 15"/>
          <p:cNvSpPr txBox="1"/>
          <p:nvPr/>
        </p:nvSpPr>
        <p:spPr>
          <a:xfrm>
            <a:off x="640080" y="3877056"/>
            <a:ext cx="384048" cy="384048"/>
          </a:xfrm>
          <a:prstGeom prst="rect">
            <a:avLst/>
          </a:prstGeom>
          <a:noFill/>
          <a:ln/>
        </p:spPr>
        <p:txBody>
          <a:bodyPr wrap="square" lIns="0" tIns="0" rIns="0" bIns="0" rtlCol="0" anchor="ctr"/>
          <a:lstStyle/>
          <a:p>
            <a:pPr algn="ctr" indent="0" marL="0">
              <a:buNone/>
            </a:pPr>
            <a:r>
              <a:rPr lang="en-US" sz="1600" b="1" dirty="0">
                <a:solidFill>
                  <a:srgbClr val="0B0F14"/>
                </a:solidFill>
                <a:latin typeface="Calibri" pitchFamily="34" charset="0"/>
                <a:ea typeface="Calibri" pitchFamily="34" charset="-122"/>
                <a:cs typeface="Calibri" pitchFamily="34" charset="-120"/>
              </a:rPr>
              <a:t>✓</a:t>
            </a:r>
            <a:endParaRPr lang="en-US" sz="1600" dirty="0"/>
          </a:p>
        </p:txBody>
      </p:sp>
      <p:sp>
        <p:nvSpPr>
          <p:cNvPr id="19" name="Text 16"/>
          <p:cNvSpPr txBox="1"/>
          <p:nvPr/>
        </p:nvSpPr>
        <p:spPr>
          <a:xfrm>
            <a:off x="1234440" y="3803904"/>
            <a:ext cx="5669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Ambiguity is refused</a:t>
            </a:r>
            <a:endParaRPr lang="en-US" sz="1600" dirty="0"/>
          </a:p>
        </p:txBody>
      </p:sp>
      <p:sp>
        <p:nvSpPr>
          <p:cNvPr id="20" name="Text 17"/>
          <p:cNvSpPr txBox="1"/>
          <p:nvPr/>
        </p:nvSpPr>
        <p:spPr>
          <a:xfrm>
            <a:off x="1234440" y="4169664"/>
            <a:ext cx="5669280" cy="50292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Two fixes that both pass are two programs. It refuses, and writes the test that tells them apart, for you.</a:t>
            </a:r>
            <a:endParaRPr lang="en-US" sz="1250" dirty="0"/>
          </a:p>
        </p:txBody>
      </p:sp>
      <p:sp>
        <p:nvSpPr>
          <p:cNvPr id="21" name="Shape 18"/>
          <p:cNvSpPr/>
          <p:nvPr/>
        </p:nvSpPr>
        <p:spPr>
          <a:xfrm>
            <a:off x="640080" y="4773168"/>
            <a:ext cx="384048" cy="384048"/>
          </a:xfrm>
          <a:prstGeom prst="ellipse">
            <a:avLst/>
          </a:prstGeom>
          <a:solidFill>
            <a:srgbClr val="F2B441"/>
          </a:solidFill>
          <a:ln w="12700">
            <a:solidFill>
              <a:srgbClr val="F2B441"/>
            </a:solidFill>
            <a:prstDash val="solid"/>
          </a:ln>
        </p:spPr>
      </p:sp>
      <p:sp>
        <p:nvSpPr>
          <p:cNvPr id="22" name="Text 19"/>
          <p:cNvSpPr txBox="1"/>
          <p:nvPr/>
        </p:nvSpPr>
        <p:spPr>
          <a:xfrm>
            <a:off x="640080" y="4773168"/>
            <a:ext cx="384048" cy="384048"/>
          </a:xfrm>
          <a:prstGeom prst="rect">
            <a:avLst/>
          </a:prstGeom>
          <a:noFill/>
          <a:ln/>
        </p:spPr>
        <p:txBody>
          <a:bodyPr wrap="square" lIns="0" tIns="0" rIns="0" bIns="0" rtlCol="0" anchor="ctr"/>
          <a:lstStyle/>
          <a:p>
            <a:pPr algn="ctr" indent="0" marL="0">
              <a:buNone/>
            </a:pPr>
            <a:r>
              <a:rPr lang="en-US" sz="1600" b="1" dirty="0">
                <a:solidFill>
                  <a:srgbClr val="0B0F14"/>
                </a:solidFill>
                <a:latin typeface="Calibri" pitchFamily="34" charset="0"/>
                <a:ea typeface="Calibri" pitchFamily="34" charset="-122"/>
                <a:cs typeface="Calibri" pitchFamily="34" charset="-120"/>
              </a:rPr>
              <a:t>✓</a:t>
            </a:r>
            <a:endParaRPr lang="en-US" sz="1600" dirty="0"/>
          </a:p>
        </p:txBody>
      </p:sp>
      <p:sp>
        <p:nvSpPr>
          <p:cNvPr id="23" name="Text 20"/>
          <p:cNvSpPr txBox="1"/>
          <p:nvPr/>
        </p:nvSpPr>
        <p:spPr>
          <a:xfrm>
            <a:off x="1234440" y="4700016"/>
            <a:ext cx="5669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Crash-safe</a:t>
            </a:r>
            <a:endParaRPr lang="en-US" sz="1600" dirty="0"/>
          </a:p>
        </p:txBody>
      </p:sp>
      <p:sp>
        <p:nvSpPr>
          <p:cNvPr id="24" name="Text 21"/>
          <p:cNvSpPr txBox="1"/>
          <p:nvPr/>
        </p:nvSpPr>
        <p:spPr>
          <a:xfrm>
            <a:off x="1234440" y="5065776"/>
            <a:ext cx="5669280" cy="50292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Killed mid-write, the next run restores the original bytes first. Nothing to re-queue.</a:t>
            </a:r>
            <a:endParaRPr lang="en-US" sz="1250" dirty="0"/>
          </a:p>
        </p:txBody>
      </p:sp>
      <p:sp>
        <p:nvSpPr>
          <p:cNvPr id="25" name="Shape 22"/>
          <p:cNvSpPr/>
          <p:nvPr/>
        </p:nvSpPr>
        <p:spPr>
          <a:xfrm>
            <a:off x="7589520" y="2011680"/>
            <a:ext cx="3977640" cy="1600200"/>
          </a:xfrm>
          <a:prstGeom prst="roundRect">
            <a:avLst>
              <a:gd name="adj" fmla="val 8000"/>
            </a:avLst>
          </a:prstGeom>
          <a:solidFill>
            <a:srgbClr val="121821"/>
          </a:solidFill>
          <a:ln w="12700">
            <a:solidFill>
              <a:srgbClr val="1F2A36"/>
            </a:solidFill>
            <a:prstDash val="solid"/>
          </a:ln>
        </p:spPr>
      </p:sp>
      <p:sp>
        <p:nvSpPr>
          <p:cNvPr id="26" name="Text 23"/>
          <p:cNvSpPr txBox="1"/>
          <p:nvPr/>
        </p:nvSpPr>
        <p:spPr>
          <a:xfrm>
            <a:off x="7818120" y="2176272"/>
            <a:ext cx="35204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0</a:t>
            </a:r>
            <a:endParaRPr lang="en-US" sz="3000" dirty="0"/>
          </a:p>
        </p:txBody>
      </p:sp>
      <p:sp>
        <p:nvSpPr>
          <p:cNvPr id="27" name="Text 24"/>
          <p:cNvSpPr txBox="1"/>
          <p:nvPr/>
        </p:nvSpPr>
        <p:spPr>
          <a:xfrm>
            <a:off x="7818120" y="2880360"/>
            <a:ext cx="35204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wrong repairs in 64 runs, Python and C, 2026-09-10</a:t>
            </a:r>
            <a:endParaRPr lang="en-US" sz="1300" dirty="0"/>
          </a:p>
        </p:txBody>
      </p:sp>
      <p:sp>
        <p:nvSpPr>
          <p:cNvPr id="28" name="Text 25"/>
          <p:cNvSpPr txBox="1"/>
          <p:nvPr/>
        </p:nvSpPr>
        <p:spPr>
          <a:xfrm>
            <a:off x="7818120" y="3227832"/>
            <a:ext cx="35204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research/maintenance-2026-09-10</a:t>
            </a:r>
            <a:endParaRPr lang="en-US" sz="850" dirty="0"/>
          </a:p>
        </p:txBody>
      </p:sp>
      <p:sp>
        <p:nvSpPr>
          <p:cNvPr id="29" name="Shape 26"/>
          <p:cNvSpPr/>
          <p:nvPr/>
        </p:nvSpPr>
        <p:spPr>
          <a:xfrm>
            <a:off x="7589520" y="3794760"/>
            <a:ext cx="3977640" cy="1600200"/>
          </a:xfrm>
          <a:prstGeom prst="roundRect">
            <a:avLst>
              <a:gd name="adj" fmla="val 8000"/>
            </a:avLst>
          </a:prstGeom>
          <a:solidFill>
            <a:srgbClr val="121821"/>
          </a:solidFill>
          <a:ln w="12700">
            <a:solidFill>
              <a:srgbClr val="1F2A36"/>
            </a:solidFill>
            <a:prstDash val="solid"/>
          </a:ln>
        </p:spPr>
      </p:sp>
      <p:sp>
        <p:nvSpPr>
          <p:cNvPr id="30" name="Text 27"/>
          <p:cNvSpPr txBox="1"/>
          <p:nvPr/>
        </p:nvSpPr>
        <p:spPr>
          <a:xfrm>
            <a:off x="7818120" y="3959352"/>
            <a:ext cx="35204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0 tokens</a:t>
            </a:r>
            <a:endParaRPr lang="en-US" sz="3000" dirty="0"/>
          </a:p>
        </p:txBody>
      </p:sp>
      <p:sp>
        <p:nvSpPr>
          <p:cNvPr id="31" name="Text 28"/>
          <p:cNvSpPr txBox="1"/>
          <p:nvPr/>
        </p:nvSpPr>
        <p:spPr>
          <a:xfrm>
            <a:off x="7818120" y="4663440"/>
            <a:ext cx="35204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no model is invoked; nothing leaves your machine</a:t>
            </a:r>
            <a:endParaRPr lang="en-US" sz="1300" dirty="0"/>
          </a:p>
        </p:txBody>
      </p:sp>
      <p:sp>
        <p:nvSpPr>
          <p:cNvPr id="32" name="Text 29"/>
          <p:cNvSpPr txBox="1"/>
          <p:nvPr/>
        </p:nvSpPr>
        <p:spPr>
          <a:xfrm>
            <a:off x="7818120" y="5010912"/>
            <a:ext cx="35204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by construction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IT LEARNS YOUR CODEBASE</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6</a:t>
            </a:r>
            <a:endParaRPr lang="en-US" sz="900" dirty="0"/>
          </a:p>
        </p:txBody>
      </p:sp>
      <p:sp>
        <p:nvSpPr>
          <p:cNvPr id="8" name="Text 5"/>
          <p:cNvSpPr txBox="1"/>
          <p:nvPr/>
        </p:nvSpPr>
        <p:spPr>
          <a:xfrm>
            <a:off x="640080" y="960120"/>
            <a:ext cx="10789920" cy="10058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Every incident you've had becomes a repair it makes for you, forever.</a:t>
            </a:r>
            <a:endParaRPr lang="en-US" sz="3000" dirty="0"/>
          </a:p>
        </p:txBody>
      </p:sp>
      <p:sp>
        <p:nvSpPr>
          <p:cNvPr id="9" name="Text 6"/>
          <p:cNvSpPr txBox="1"/>
          <p:nvPr/>
        </p:nvSpPr>
        <p:spPr>
          <a:xfrm>
            <a:off x="640080" y="2240280"/>
            <a:ext cx="6035040" cy="347472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Thirteen shapes of mechanical bug are repaired out of the box: flipped operators, off-by-one, swapped operands, min/max, booleans, comparisons.</a:t>
            </a:r>
            <a:endParaRPr lang="en-US" sz="1500" dirty="0"/>
          </a:p>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Each incident from your own history becomes a class of its own — one worked example, written down once.</a:t>
            </a:r>
            <a:endParaRPr lang="en-US" sz="1500" dirty="0"/>
          </a:p>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From then on every member of that class is restored automatically. The same shapes come back; the fix is already there.</a:t>
            </a:r>
            <a:endParaRPr lang="en-US" sz="1500" dirty="0"/>
          </a:p>
          <a:p>
            <a:pPr marL="177800" indent="-177800">
              <a:spcAft>
                <a:spcPts val="1000"/>
              </a:spcAft>
              <a:buSzPct val="100000"/>
              <a:buChar char="•"/>
            </a:pPr>
            <a:r>
              <a:rPr lang="en-US" sz="1500" dirty="0">
                <a:solidFill>
                  <a:srgbClr val="DDE3EA"/>
                </a:solidFill>
                <a:latin typeface="Calibri" pitchFamily="34" charset="0"/>
                <a:ea typeface="Calibri" pitchFamily="34" charset="-122"/>
                <a:cs typeface="Calibri" pitchFamily="34" charset="-120"/>
              </a:rPr>
              <a:t>Your incident log stops being a cost centre and becomes the thing that pays.</a:t>
            </a:r>
            <a:endParaRPr lang="en-US" sz="1500" dirty="0"/>
          </a:p>
        </p:txBody>
      </p:sp>
      <p:sp>
        <p:nvSpPr>
          <p:cNvPr id="10" name="Shape 7"/>
          <p:cNvSpPr/>
          <p:nvPr/>
        </p:nvSpPr>
        <p:spPr>
          <a:xfrm>
            <a:off x="7315200" y="2240280"/>
            <a:ext cx="4251960" cy="1600200"/>
          </a:xfrm>
          <a:prstGeom prst="roundRect">
            <a:avLst>
              <a:gd name="adj" fmla="val 8000"/>
            </a:avLst>
          </a:prstGeom>
          <a:solidFill>
            <a:srgbClr val="121821"/>
          </a:solidFill>
          <a:ln w="12700">
            <a:solidFill>
              <a:srgbClr val="1F2A36"/>
            </a:solidFill>
            <a:prstDash val="solid"/>
          </a:ln>
        </p:spPr>
      </p:sp>
      <p:sp>
        <p:nvSpPr>
          <p:cNvPr id="11" name="Text 8"/>
          <p:cNvSpPr txBox="1"/>
          <p:nvPr/>
        </p:nvSpPr>
        <p:spPr>
          <a:xfrm>
            <a:off x="7543800" y="2404872"/>
            <a:ext cx="379476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1 → 4</a:t>
            </a:r>
            <a:endParaRPr lang="en-US" sz="3000" dirty="0"/>
          </a:p>
        </p:txBody>
      </p:sp>
      <p:sp>
        <p:nvSpPr>
          <p:cNvPr id="12" name="Text 9"/>
          <p:cNvSpPr txBox="1"/>
          <p:nvPr/>
        </p:nvSpPr>
        <p:spPr>
          <a:xfrm>
            <a:off x="7543800" y="3108960"/>
            <a:ext cx="379476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one example from 2016 produced the correct repair for four real fixes, 2016–2023, four files</a:t>
            </a:r>
            <a:endParaRPr lang="en-US" sz="1300" dirty="0"/>
          </a:p>
        </p:txBody>
      </p:sp>
      <p:sp>
        <p:nvSpPr>
          <p:cNvPr id="13" name="Text 10"/>
          <p:cNvSpPr txBox="1"/>
          <p:nvPr/>
        </p:nvSpPr>
        <p:spPr>
          <a:xfrm>
            <a:off x="7543800" y="3456432"/>
            <a:ext cx="379476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cglm history · research/laws-2026-09-07/44</a:t>
            </a:r>
            <a:endParaRPr lang="en-US" sz="850" dirty="0"/>
          </a:p>
        </p:txBody>
      </p:sp>
      <p:sp>
        <p:nvSpPr>
          <p:cNvPr id="14" name="Shape 11"/>
          <p:cNvSpPr/>
          <p:nvPr/>
        </p:nvSpPr>
        <p:spPr>
          <a:xfrm>
            <a:off x="7315200" y="4023360"/>
            <a:ext cx="4251960" cy="1600200"/>
          </a:xfrm>
          <a:prstGeom prst="roundRect">
            <a:avLst>
              <a:gd name="adj" fmla="val 8000"/>
            </a:avLst>
          </a:prstGeom>
          <a:solidFill>
            <a:srgbClr val="121821"/>
          </a:solidFill>
          <a:ln w="12700">
            <a:solidFill>
              <a:srgbClr val="1F2A36"/>
            </a:solidFill>
            <a:prstDash val="solid"/>
          </a:ln>
        </p:spPr>
      </p:sp>
      <p:sp>
        <p:nvSpPr>
          <p:cNvPr id="15" name="Text 12"/>
          <p:cNvSpPr txBox="1"/>
          <p:nvPr/>
        </p:nvSpPr>
        <p:spPr>
          <a:xfrm>
            <a:off x="7543800" y="4187952"/>
            <a:ext cx="379476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13</a:t>
            </a:r>
            <a:endParaRPr lang="en-US" sz="3000" dirty="0"/>
          </a:p>
        </p:txBody>
      </p:sp>
      <p:sp>
        <p:nvSpPr>
          <p:cNvPr id="16" name="Text 13"/>
          <p:cNvSpPr txBox="1"/>
          <p:nvPr/>
        </p:nvSpPr>
        <p:spPr>
          <a:xfrm>
            <a:off x="7543800" y="4892040"/>
            <a:ext cx="379476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shapes repaired with no teaching at all</a:t>
            </a:r>
            <a:endParaRPr lang="en-US" sz="1300" dirty="0"/>
          </a:p>
        </p:txBody>
      </p:sp>
      <p:sp>
        <p:nvSpPr>
          <p:cNvPr id="17" name="Text 14"/>
          <p:cNvSpPr txBox="1"/>
          <p:nvPr/>
        </p:nvSpPr>
        <p:spPr>
          <a:xfrm>
            <a:off x="7543800" y="5239512"/>
            <a:ext cx="379476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fluidfix kinds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MEASURED, NOT CLAIMED</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7</a:t>
            </a:r>
            <a:endParaRPr lang="en-US" sz="900" dirty="0"/>
          </a:p>
        </p:txBody>
      </p:sp>
      <p:sp>
        <p:nvSpPr>
          <p:cNvPr id="8" name="Text 5"/>
          <p:cNvSpPr txBox="1"/>
          <p:nvPr/>
        </p:nvSpPr>
        <p:spPr>
          <a:xfrm>
            <a:off x="640080" y="960120"/>
            <a:ext cx="10908792" cy="10058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Every number has a file behind it.</a:t>
            </a:r>
            <a:endParaRPr lang="en-US" sz="3400" dirty="0"/>
          </a:p>
        </p:txBody>
      </p:sp>
      <p:sp>
        <p:nvSpPr>
          <p:cNvPr id="9" name="Shape 6"/>
          <p:cNvSpPr/>
          <p:nvPr/>
        </p:nvSpPr>
        <p:spPr>
          <a:xfrm>
            <a:off x="640080" y="2011680"/>
            <a:ext cx="3520440" cy="1691640"/>
          </a:xfrm>
          <a:prstGeom prst="roundRect">
            <a:avLst>
              <a:gd name="adj" fmla="val 7568"/>
            </a:avLst>
          </a:prstGeom>
          <a:solidFill>
            <a:srgbClr val="121821"/>
          </a:solidFill>
          <a:ln w="12700">
            <a:solidFill>
              <a:srgbClr val="1F2A36"/>
            </a:solidFill>
            <a:prstDash val="solid"/>
          </a:ln>
        </p:spPr>
      </p:sp>
      <p:sp>
        <p:nvSpPr>
          <p:cNvPr id="10" name="Text 7"/>
          <p:cNvSpPr txBox="1"/>
          <p:nvPr/>
        </p:nvSpPr>
        <p:spPr>
          <a:xfrm>
            <a:off x="868680" y="2176272"/>
            <a:ext cx="30632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26 / 27</a:t>
            </a:r>
            <a:endParaRPr lang="en-US" sz="3000" dirty="0"/>
          </a:p>
        </p:txBody>
      </p:sp>
      <p:sp>
        <p:nvSpPr>
          <p:cNvPr id="11" name="Text 8"/>
          <p:cNvSpPr txBox="1"/>
          <p:nvPr/>
        </p:nvSpPr>
        <p:spPr>
          <a:xfrm>
            <a:off x="868680" y="2880360"/>
            <a:ext cx="30632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byte-exact repairs, 33-bug benchmark</a:t>
            </a:r>
            <a:endParaRPr lang="en-US" sz="1300" dirty="0"/>
          </a:p>
        </p:txBody>
      </p:sp>
      <p:sp>
        <p:nvSpPr>
          <p:cNvPr id="12" name="Text 9"/>
          <p:cNvSpPr txBox="1"/>
          <p:nvPr/>
        </p:nvSpPr>
        <p:spPr>
          <a:xfrm>
            <a:off x="868680" y="3319272"/>
            <a:ext cx="30632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docs/data/arm_a_full_results.json</a:t>
            </a:r>
            <a:endParaRPr lang="en-US" sz="850" dirty="0"/>
          </a:p>
        </p:txBody>
      </p:sp>
      <p:sp>
        <p:nvSpPr>
          <p:cNvPr id="13" name="Shape 10"/>
          <p:cNvSpPr/>
          <p:nvPr/>
        </p:nvSpPr>
        <p:spPr>
          <a:xfrm>
            <a:off x="4416552" y="2011680"/>
            <a:ext cx="3520440" cy="1691640"/>
          </a:xfrm>
          <a:prstGeom prst="roundRect">
            <a:avLst>
              <a:gd name="adj" fmla="val 7568"/>
            </a:avLst>
          </a:prstGeom>
          <a:solidFill>
            <a:srgbClr val="121821"/>
          </a:solidFill>
          <a:ln w="12700">
            <a:solidFill>
              <a:srgbClr val="1F2A36"/>
            </a:solidFill>
            <a:prstDash val="solid"/>
          </a:ln>
        </p:spPr>
      </p:sp>
      <p:sp>
        <p:nvSpPr>
          <p:cNvPr id="14" name="Text 11"/>
          <p:cNvSpPr txBox="1"/>
          <p:nvPr/>
        </p:nvSpPr>
        <p:spPr>
          <a:xfrm>
            <a:off x="4645152" y="2176272"/>
            <a:ext cx="30632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14 / 18</a:t>
            </a:r>
            <a:endParaRPr lang="en-US" sz="3000" dirty="0"/>
          </a:p>
        </p:txBody>
      </p:sp>
      <p:sp>
        <p:nvSpPr>
          <p:cNvPr id="15" name="Text 12"/>
          <p:cNvSpPr txBox="1"/>
          <p:nvPr/>
        </p:nvSpPr>
        <p:spPr>
          <a:xfrm>
            <a:off x="4645152" y="2880360"/>
            <a:ext cx="30632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repaired across three real Python repositories (78%)</a:t>
            </a:r>
            <a:endParaRPr lang="en-US" sz="1300" dirty="0"/>
          </a:p>
        </p:txBody>
      </p:sp>
      <p:sp>
        <p:nvSpPr>
          <p:cNvPr id="16" name="Text 13"/>
          <p:cNvSpPr txBox="1"/>
          <p:nvPr/>
        </p:nvSpPr>
        <p:spPr>
          <a:xfrm>
            <a:off x="4645152" y="3319272"/>
            <a:ext cx="30632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docs/data/*-after.log</a:t>
            </a:r>
            <a:endParaRPr lang="en-US" sz="850" dirty="0"/>
          </a:p>
        </p:txBody>
      </p:sp>
      <p:sp>
        <p:nvSpPr>
          <p:cNvPr id="17" name="Shape 14"/>
          <p:cNvSpPr/>
          <p:nvPr/>
        </p:nvSpPr>
        <p:spPr>
          <a:xfrm>
            <a:off x="8193024" y="2011680"/>
            <a:ext cx="3520440" cy="1691640"/>
          </a:xfrm>
          <a:prstGeom prst="roundRect">
            <a:avLst>
              <a:gd name="adj" fmla="val 7568"/>
            </a:avLst>
          </a:prstGeom>
          <a:solidFill>
            <a:srgbClr val="121821"/>
          </a:solidFill>
          <a:ln w="12700">
            <a:solidFill>
              <a:srgbClr val="1F2A36"/>
            </a:solidFill>
            <a:prstDash val="solid"/>
          </a:ln>
        </p:spPr>
      </p:sp>
      <p:sp>
        <p:nvSpPr>
          <p:cNvPr id="18" name="Text 15"/>
          <p:cNvSpPr txBox="1"/>
          <p:nvPr/>
        </p:nvSpPr>
        <p:spPr>
          <a:xfrm>
            <a:off x="8421624" y="2176272"/>
            <a:ext cx="30632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0</a:t>
            </a:r>
            <a:endParaRPr lang="en-US" sz="3000" dirty="0"/>
          </a:p>
        </p:txBody>
      </p:sp>
      <p:sp>
        <p:nvSpPr>
          <p:cNvPr id="19" name="Text 16"/>
          <p:cNvSpPr txBox="1"/>
          <p:nvPr/>
        </p:nvSpPr>
        <p:spPr>
          <a:xfrm>
            <a:off x="8421624" y="2880360"/>
            <a:ext cx="30632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wrong repairs in 64 runs, Python and C</a:t>
            </a:r>
            <a:endParaRPr lang="en-US" sz="1300" dirty="0"/>
          </a:p>
        </p:txBody>
      </p:sp>
      <p:sp>
        <p:nvSpPr>
          <p:cNvPr id="20" name="Text 17"/>
          <p:cNvSpPr txBox="1"/>
          <p:nvPr/>
        </p:nvSpPr>
        <p:spPr>
          <a:xfrm>
            <a:off x="8421624" y="3319272"/>
            <a:ext cx="30632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research/maintenance-2026-09-10</a:t>
            </a:r>
            <a:endParaRPr lang="en-US" sz="850" dirty="0"/>
          </a:p>
        </p:txBody>
      </p:sp>
      <p:sp>
        <p:nvSpPr>
          <p:cNvPr id="21" name="Shape 18"/>
          <p:cNvSpPr/>
          <p:nvPr/>
        </p:nvSpPr>
        <p:spPr>
          <a:xfrm>
            <a:off x="640080" y="3959352"/>
            <a:ext cx="3520440" cy="1691640"/>
          </a:xfrm>
          <a:prstGeom prst="roundRect">
            <a:avLst>
              <a:gd name="adj" fmla="val 7568"/>
            </a:avLst>
          </a:prstGeom>
          <a:solidFill>
            <a:srgbClr val="121821"/>
          </a:solidFill>
          <a:ln w="12700">
            <a:solidFill>
              <a:srgbClr val="1F2A36"/>
            </a:solidFill>
            <a:prstDash val="solid"/>
          </a:ln>
        </p:spPr>
      </p:sp>
      <p:sp>
        <p:nvSpPr>
          <p:cNvPr id="22" name="Text 19"/>
          <p:cNvSpPr txBox="1"/>
          <p:nvPr/>
        </p:nvSpPr>
        <p:spPr>
          <a:xfrm>
            <a:off x="868680" y="4123944"/>
            <a:ext cx="30632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33 / 33</a:t>
            </a:r>
            <a:endParaRPr lang="en-US" sz="3000" dirty="0"/>
          </a:p>
        </p:txBody>
      </p:sp>
      <p:sp>
        <p:nvSpPr>
          <p:cNvPr id="23" name="Text 20"/>
          <p:cNvSpPr txBox="1"/>
          <p:nvPr/>
        </p:nvSpPr>
        <p:spPr>
          <a:xfrm>
            <a:off x="868680" y="4828032"/>
            <a:ext cx="30632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defects localised to the right file</a:t>
            </a:r>
            <a:endParaRPr lang="en-US" sz="1300" dirty="0"/>
          </a:p>
        </p:txBody>
      </p:sp>
      <p:sp>
        <p:nvSpPr>
          <p:cNvPr id="24" name="Text 21"/>
          <p:cNvSpPr txBox="1"/>
          <p:nvPr/>
        </p:nvSpPr>
        <p:spPr>
          <a:xfrm>
            <a:off x="868680" y="5266944"/>
            <a:ext cx="30632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docs/data/arm_a_full_results.json</a:t>
            </a:r>
            <a:endParaRPr lang="en-US" sz="850" dirty="0"/>
          </a:p>
        </p:txBody>
      </p:sp>
      <p:sp>
        <p:nvSpPr>
          <p:cNvPr id="25" name="Shape 22"/>
          <p:cNvSpPr/>
          <p:nvPr/>
        </p:nvSpPr>
        <p:spPr>
          <a:xfrm>
            <a:off x="4416552" y="3959352"/>
            <a:ext cx="3520440" cy="1691640"/>
          </a:xfrm>
          <a:prstGeom prst="roundRect">
            <a:avLst>
              <a:gd name="adj" fmla="val 7568"/>
            </a:avLst>
          </a:prstGeom>
          <a:solidFill>
            <a:srgbClr val="121821"/>
          </a:solidFill>
          <a:ln w="12700">
            <a:solidFill>
              <a:srgbClr val="1F2A36"/>
            </a:solidFill>
            <a:prstDash val="solid"/>
          </a:ln>
        </p:spPr>
      </p:sp>
      <p:sp>
        <p:nvSpPr>
          <p:cNvPr id="26" name="Text 23"/>
          <p:cNvSpPr txBox="1"/>
          <p:nvPr/>
        </p:nvSpPr>
        <p:spPr>
          <a:xfrm>
            <a:off x="4645152" y="4123944"/>
            <a:ext cx="30632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46 runs</a:t>
            </a:r>
            <a:endParaRPr lang="en-US" sz="3000" dirty="0"/>
          </a:p>
        </p:txBody>
      </p:sp>
      <p:sp>
        <p:nvSpPr>
          <p:cNvPr id="27" name="Text 24"/>
          <p:cNvSpPr txBox="1"/>
          <p:nvPr/>
        </p:nvSpPr>
        <p:spPr>
          <a:xfrm>
            <a:off x="4645152" y="4828032"/>
            <a:ext cx="30632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to a byte-exact repair inside Box2D, no class written</a:t>
            </a:r>
            <a:endParaRPr lang="en-US" sz="1300" dirty="0"/>
          </a:p>
        </p:txBody>
      </p:sp>
      <p:sp>
        <p:nvSpPr>
          <p:cNvPr id="28" name="Text 25"/>
          <p:cNvSpPr txBox="1"/>
          <p:nvPr/>
        </p:nvSpPr>
        <p:spPr>
          <a:xfrm>
            <a:off x="4645152" y="5266944"/>
            <a:ext cx="30632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docs/BENCHMARK.md</a:t>
            </a:r>
            <a:endParaRPr lang="en-US" sz="850" dirty="0"/>
          </a:p>
        </p:txBody>
      </p:sp>
      <p:sp>
        <p:nvSpPr>
          <p:cNvPr id="29" name="Shape 26"/>
          <p:cNvSpPr/>
          <p:nvPr/>
        </p:nvSpPr>
        <p:spPr>
          <a:xfrm>
            <a:off x="8193024" y="3959352"/>
            <a:ext cx="3520440" cy="1691640"/>
          </a:xfrm>
          <a:prstGeom prst="roundRect">
            <a:avLst>
              <a:gd name="adj" fmla="val 7568"/>
            </a:avLst>
          </a:prstGeom>
          <a:solidFill>
            <a:srgbClr val="121821"/>
          </a:solidFill>
          <a:ln w="12700">
            <a:solidFill>
              <a:srgbClr val="1F2A36"/>
            </a:solidFill>
            <a:prstDash val="solid"/>
          </a:ln>
        </p:spPr>
      </p:sp>
      <p:sp>
        <p:nvSpPr>
          <p:cNvPr id="30" name="Text 27"/>
          <p:cNvSpPr txBox="1"/>
          <p:nvPr/>
        </p:nvSpPr>
        <p:spPr>
          <a:xfrm>
            <a:off x="8421624" y="4123944"/>
            <a:ext cx="3063240" cy="685800"/>
          </a:xfrm>
          <a:prstGeom prst="rect">
            <a:avLst/>
          </a:prstGeom>
          <a:noFill/>
          <a:ln/>
        </p:spPr>
        <p:txBody>
          <a:bodyPr wrap="square" lIns="0" tIns="0" rIns="0" bIns="0" rtlCol="0" anchor="ctr"/>
          <a:lstStyle/>
          <a:p>
            <a:pPr indent="0" marL="0">
              <a:buNone/>
            </a:pPr>
            <a:r>
              <a:rPr lang="en-US" sz="3000" b="1" dirty="0">
                <a:solidFill>
                  <a:srgbClr val="F2B441"/>
                </a:solidFill>
                <a:latin typeface="Courier New" pitchFamily="34" charset="0"/>
                <a:ea typeface="Courier New" pitchFamily="34" charset="-122"/>
                <a:cs typeface="Courier New" pitchFamily="34" charset="-120"/>
              </a:rPr>
              <a:t>225 / 225</a:t>
            </a:r>
            <a:endParaRPr lang="en-US" sz="3000" dirty="0"/>
          </a:p>
        </p:txBody>
      </p:sp>
      <p:sp>
        <p:nvSpPr>
          <p:cNvPr id="31" name="Text 28"/>
          <p:cNvSpPr txBox="1"/>
          <p:nvPr/>
        </p:nvSpPr>
        <p:spPr>
          <a:xfrm>
            <a:off x="8421624" y="4828032"/>
            <a:ext cx="3063240" cy="548640"/>
          </a:xfrm>
          <a:prstGeom prst="rect">
            <a:avLst/>
          </a:prstGeom>
          <a:noFill/>
          <a:ln/>
        </p:spPr>
        <p:txBody>
          <a:bodyPr wrap="square" lIns="0" tIns="0" rIns="0" bIns="0" rtlCol="0" anchor="t"/>
          <a:lstStyle/>
          <a:p>
            <a:pPr indent="0" marL="0">
              <a:buNone/>
            </a:pPr>
            <a:r>
              <a:rPr lang="en-US" sz="1300" dirty="0">
                <a:solidFill>
                  <a:srgbClr val="DDE3EA"/>
                </a:solidFill>
                <a:latin typeface="Calibri" pitchFamily="34" charset="0"/>
                <a:ea typeface="Calibri" pitchFamily="34" charset="-122"/>
                <a:cs typeface="Calibri" pitchFamily="34" charset="-120"/>
              </a:rPr>
              <a:t>tests green on the shipping build</a:t>
            </a:r>
            <a:endParaRPr lang="en-US" sz="1300" dirty="0"/>
          </a:p>
        </p:txBody>
      </p:sp>
      <p:sp>
        <p:nvSpPr>
          <p:cNvPr id="32" name="Text 29"/>
          <p:cNvSpPr txBox="1"/>
          <p:nvPr/>
        </p:nvSpPr>
        <p:spPr>
          <a:xfrm>
            <a:off x="8421624" y="5266944"/>
            <a:ext cx="3063240" cy="274320"/>
          </a:xfrm>
          <a:prstGeom prst="rect">
            <a:avLst/>
          </a:prstGeom>
          <a:noFill/>
          <a:ln/>
        </p:spPr>
        <p:txBody>
          <a:bodyPr wrap="square" lIns="0" tIns="0" rIns="0" bIns="0" rtlCol="0" anchor="b"/>
          <a:lstStyle/>
          <a:p>
            <a:pPr indent="0" marL="0">
              <a:buNone/>
            </a:pPr>
            <a:r>
              <a:rPr lang="en-US" sz="850" dirty="0">
                <a:solidFill>
                  <a:srgbClr val="5A6572"/>
                </a:solidFill>
                <a:latin typeface="Courier New" pitchFamily="34" charset="0"/>
                <a:ea typeface="Courier New" pitchFamily="34" charset="-122"/>
                <a:cs typeface="Courier New" pitchFamily="34" charset="-120"/>
              </a:rPr>
              <a:t>full_suite_final2.log</a:t>
            </a:r>
            <a:endParaRPr lang="en-US" sz="850" dirty="0"/>
          </a:p>
        </p:txBody>
      </p:sp>
      <p:sp>
        <p:nvSpPr>
          <p:cNvPr id="33" name="Text 30"/>
          <p:cNvSpPr txBox="1"/>
          <p:nvPr/>
        </p:nvSpPr>
        <p:spPr>
          <a:xfrm>
            <a:off x="640080" y="5852160"/>
            <a:ext cx="109728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All measurements reproduce from the repository: github.com/devkancheti4-design/fluidfix</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WHERE IT STOPS</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8</a:t>
            </a:r>
            <a:endParaRPr lang="en-US" sz="900" dirty="0"/>
          </a:p>
        </p:txBody>
      </p:sp>
      <p:sp>
        <p:nvSpPr>
          <p:cNvPr id="8" name="Text 5"/>
          <p:cNvSpPr txBox="1"/>
          <p:nvPr/>
        </p:nvSpPr>
        <p:spPr>
          <a:xfrm>
            <a:off x="640080" y="960120"/>
            <a:ext cx="10908792" cy="10058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What it will not do, stated plainly.</a:t>
            </a:r>
            <a:endParaRPr lang="en-US" sz="3400" dirty="0"/>
          </a:p>
        </p:txBody>
      </p:sp>
      <p:sp>
        <p:nvSpPr>
          <p:cNvPr id="9" name="Shape 6"/>
          <p:cNvSpPr/>
          <p:nvPr/>
        </p:nvSpPr>
        <p:spPr>
          <a:xfrm>
            <a:off x="640080" y="2103120"/>
            <a:ext cx="5349240" cy="1645920"/>
          </a:xfrm>
          <a:prstGeom prst="roundRect">
            <a:avLst>
              <a:gd name="adj" fmla="val 7778"/>
            </a:avLst>
          </a:prstGeom>
          <a:solidFill>
            <a:srgbClr val="121821"/>
          </a:solidFill>
          <a:ln w="12700">
            <a:solidFill>
              <a:srgbClr val="1F2A36"/>
            </a:solidFill>
            <a:prstDash val="solid"/>
          </a:ln>
        </p:spPr>
      </p:sp>
      <p:sp>
        <p:nvSpPr>
          <p:cNvPr id="10" name="Text 7"/>
          <p:cNvSpPr txBox="1"/>
          <p:nvPr/>
        </p:nvSpPr>
        <p:spPr>
          <a:xfrm>
            <a:off x="914400" y="2331720"/>
            <a:ext cx="48006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It needs a test suite</a:t>
            </a:r>
            <a:endParaRPr lang="en-US" sz="1600" dirty="0"/>
          </a:p>
        </p:txBody>
      </p:sp>
      <p:sp>
        <p:nvSpPr>
          <p:cNvPr id="11" name="Text 8"/>
          <p:cNvSpPr txBox="1"/>
          <p:nvPr/>
        </p:nvSpPr>
        <p:spPr>
          <a:xfrm>
            <a:off x="914400" y="2788920"/>
            <a:ext cx="4800600" cy="86868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pytest today; JUnit and a C test binary in alpha. A test that cannot see the defect cannot judge the repair.</a:t>
            </a:r>
            <a:endParaRPr lang="en-US" sz="1250" dirty="0"/>
          </a:p>
        </p:txBody>
      </p:sp>
      <p:sp>
        <p:nvSpPr>
          <p:cNvPr id="12" name="Shape 9"/>
          <p:cNvSpPr/>
          <p:nvPr/>
        </p:nvSpPr>
        <p:spPr>
          <a:xfrm>
            <a:off x="6263640" y="2103120"/>
            <a:ext cx="5349240" cy="1645920"/>
          </a:xfrm>
          <a:prstGeom prst="roundRect">
            <a:avLst>
              <a:gd name="adj" fmla="val 7778"/>
            </a:avLst>
          </a:prstGeom>
          <a:solidFill>
            <a:srgbClr val="121821"/>
          </a:solidFill>
          <a:ln w="12700">
            <a:solidFill>
              <a:srgbClr val="1F2A36"/>
            </a:solidFill>
            <a:prstDash val="solid"/>
          </a:ln>
        </p:spPr>
      </p:sp>
      <p:sp>
        <p:nvSpPr>
          <p:cNvPr id="13" name="Text 10"/>
          <p:cNvSpPr txBox="1"/>
          <p:nvPr/>
        </p:nvSpPr>
        <p:spPr>
          <a:xfrm>
            <a:off x="6537960" y="2331720"/>
            <a:ext cx="48006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One file at a time</a:t>
            </a:r>
            <a:endParaRPr lang="en-US" sz="1600" dirty="0"/>
          </a:p>
        </p:txBody>
      </p:sp>
      <p:sp>
        <p:nvSpPr>
          <p:cNvPr id="14" name="Text 11"/>
          <p:cNvSpPr txBox="1"/>
          <p:nvPr/>
        </p:nvSpPr>
        <p:spPr>
          <a:xfrm>
            <a:off x="6537960" y="2788920"/>
            <a:ext cx="4800600" cy="86868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Fixes that span files are out of scope today. On some engines that is most of them; on most services it is not.</a:t>
            </a:r>
            <a:endParaRPr lang="en-US" sz="1250" dirty="0"/>
          </a:p>
        </p:txBody>
      </p:sp>
      <p:sp>
        <p:nvSpPr>
          <p:cNvPr id="15" name="Shape 12"/>
          <p:cNvSpPr/>
          <p:nvPr/>
        </p:nvSpPr>
        <p:spPr>
          <a:xfrm>
            <a:off x="640080" y="3977640"/>
            <a:ext cx="5349240" cy="1645920"/>
          </a:xfrm>
          <a:prstGeom prst="roundRect">
            <a:avLst>
              <a:gd name="adj" fmla="val 7778"/>
            </a:avLst>
          </a:prstGeom>
          <a:solidFill>
            <a:srgbClr val="121821"/>
          </a:solidFill>
          <a:ln w="12700">
            <a:solidFill>
              <a:srgbClr val="1F2A36"/>
            </a:solidFill>
            <a:prstDash val="solid"/>
          </a:ln>
        </p:spPr>
      </p:sp>
      <p:sp>
        <p:nvSpPr>
          <p:cNvPr id="16" name="Text 13"/>
          <p:cNvSpPr txBox="1"/>
          <p:nvPr/>
        </p:nvSpPr>
        <p:spPr>
          <a:xfrm>
            <a:off x="914400" y="4206240"/>
            <a:ext cx="48006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Unknown shapes are refused</a:t>
            </a:r>
            <a:endParaRPr lang="en-US" sz="1600" dirty="0"/>
          </a:p>
        </p:txBody>
      </p:sp>
      <p:sp>
        <p:nvSpPr>
          <p:cNvPr id="17" name="Text 14"/>
          <p:cNvSpPr txBox="1"/>
          <p:nvPr/>
        </p:nvSpPr>
        <p:spPr>
          <a:xfrm>
            <a:off x="914400" y="4663440"/>
            <a:ext cx="4800600" cy="86868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Until you show it one example, it leaves the bug alone and says so. That is the feature, not a gap.</a:t>
            </a:r>
            <a:endParaRPr lang="en-US" sz="1250" dirty="0"/>
          </a:p>
        </p:txBody>
      </p:sp>
      <p:sp>
        <p:nvSpPr>
          <p:cNvPr id="18" name="Shape 15"/>
          <p:cNvSpPr/>
          <p:nvPr/>
        </p:nvSpPr>
        <p:spPr>
          <a:xfrm>
            <a:off x="6263640" y="3977640"/>
            <a:ext cx="5349240" cy="1645920"/>
          </a:xfrm>
          <a:prstGeom prst="roundRect">
            <a:avLst>
              <a:gd name="adj" fmla="val 7778"/>
            </a:avLst>
          </a:prstGeom>
          <a:solidFill>
            <a:srgbClr val="121821"/>
          </a:solidFill>
          <a:ln w="12700">
            <a:solidFill>
              <a:srgbClr val="1F2A36"/>
            </a:solidFill>
            <a:prstDash val="solid"/>
          </a:ln>
        </p:spPr>
      </p:sp>
      <p:sp>
        <p:nvSpPr>
          <p:cNvPr id="19" name="Text 16"/>
          <p:cNvSpPr txBox="1"/>
          <p:nvPr/>
        </p:nvSpPr>
        <p:spPr>
          <a:xfrm>
            <a:off x="6537960" y="4206240"/>
            <a:ext cx="48006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It does not reason</a:t>
            </a:r>
            <a:endParaRPr lang="en-US" sz="1600" dirty="0"/>
          </a:p>
        </p:txBody>
      </p:sp>
      <p:sp>
        <p:nvSpPr>
          <p:cNvPr id="20" name="Text 17"/>
          <p:cNvSpPr txBox="1"/>
          <p:nvPr/>
        </p:nvSpPr>
        <p:spPr>
          <a:xfrm>
            <a:off x="6537960" y="4663440"/>
            <a:ext cx="4800600" cy="86868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It restores what it can prove and refuses the rest. Anything needing new information stays yours.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THE OFFER</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9</a:t>
            </a:r>
            <a:endParaRPr lang="en-US" sz="900" dirty="0"/>
          </a:p>
        </p:txBody>
      </p:sp>
      <p:sp>
        <p:nvSpPr>
          <p:cNvPr id="8" name="Text 5"/>
          <p:cNvSpPr txBox="1"/>
          <p:nvPr/>
        </p:nvSpPr>
        <p:spPr>
          <a:xfrm>
            <a:off x="640080" y="960120"/>
            <a:ext cx="10908792" cy="10058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Start with the number you don't have yet.</a:t>
            </a:r>
            <a:endParaRPr lang="en-US" sz="3400" dirty="0"/>
          </a:p>
        </p:txBody>
      </p:sp>
      <p:sp>
        <p:nvSpPr>
          <p:cNvPr id="9" name="Shape 6"/>
          <p:cNvSpPr/>
          <p:nvPr/>
        </p:nvSpPr>
        <p:spPr>
          <a:xfrm>
            <a:off x="640080" y="2057400"/>
            <a:ext cx="2606040" cy="3246120"/>
          </a:xfrm>
          <a:prstGeom prst="roundRect">
            <a:avLst>
              <a:gd name="adj" fmla="val 4912"/>
            </a:avLst>
          </a:prstGeom>
          <a:solidFill>
            <a:srgbClr val="121821"/>
          </a:solidFill>
          <a:ln w="12700">
            <a:solidFill>
              <a:srgbClr val="1F2A36"/>
            </a:solidFill>
            <a:prstDash val="solid"/>
          </a:ln>
        </p:spPr>
      </p:sp>
      <p:sp>
        <p:nvSpPr>
          <p:cNvPr id="10" name="Text 7"/>
          <p:cNvSpPr txBox="1"/>
          <p:nvPr/>
        </p:nvSpPr>
        <p:spPr>
          <a:xfrm>
            <a:off x="841248" y="2240280"/>
            <a:ext cx="2203704" cy="274320"/>
          </a:xfrm>
          <a:prstGeom prst="rect">
            <a:avLst/>
          </a:prstGeom>
          <a:noFill/>
          <a:ln/>
        </p:spPr>
        <p:txBody>
          <a:bodyPr wrap="square" lIns="0" tIns="0" rIns="0" bIns="0" rtlCol="0" anchor="ctr"/>
          <a:lstStyle/>
          <a:p>
            <a:pPr indent="0" marL="0">
              <a:buNone/>
            </a:pPr>
            <a:r>
              <a:rPr lang="en-US" sz="950" spc="150" kern="0" dirty="0">
                <a:solidFill>
                  <a:srgbClr val="F2B441"/>
                </a:solidFill>
                <a:latin typeface="Courier New" pitchFamily="34" charset="0"/>
                <a:ea typeface="Courier New" pitchFamily="34" charset="-122"/>
                <a:cs typeface="Courier New" pitchFamily="34" charset="-120"/>
              </a:rPr>
              <a:t>OPEN SOURCE</a:t>
            </a:r>
            <a:endParaRPr lang="en-US" sz="950" dirty="0"/>
          </a:p>
        </p:txBody>
      </p:sp>
      <p:sp>
        <p:nvSpPr>
          <p:cNvPr id="11" name="Text 8"/>
          <p:cNvSpPr txBox="1"/>
          <p:nvPr/>
        </p:nvSpPr>
        <p:spPr>
          <a:xfrm>
            <a:off x="841248" y="2560320"/>
            <a:ext cx="2203704" cy="548640"/>
          </a:xfrm>
          <a:prstGeom prst="rect">
            <a:avLst/>
          </a:prstGeom>
          <a:noFill/>
          <a:ln/>
        </p:spPr>
        <p:txBody>
          <a:bodyPr wrap="square" lIns="0" tIns="0" rIns="0" bIns="0" rtlCol="0" anchor="ctr"/>
          <a:lstStyle/>
          <a:p>
            <a:pPr indent="0" marL="0">
              <a:buNone/>
            </a:pPr>
            <a:r>
              <a:rPr lang="en-US" sz="2400" b="1" dirty="0">
                <a:solidFill>
                  <a:srgbClr val="FFFFFF"/>
                </a:solidFill>
                <a:latin typeface="Courier New" pitchFamily="34" charset="0"/>
                <a:ea typeface="Courier New" pitchFamily="34" charset="-122"/>
                <a:cs typeface="Courier New" pitchFamily="34" charset="-120"/>
              </a:rPr>
              <a:t>Free</a:t>
            </a:r>
            <a:endParaRPr lang="en-US" sz="2400" dirty="0"/>
          </a:p>
        </p:txBody>
      </p:sp>
      <p:sp>
        <p:nvSpPr>
          <p:cNvPr id="12" name="Text 9"/>
          <p:cNvSpPr txBox="1"/>
          <p:nvPr/>
        </p:nvSpPr>
        <p:spPr>
          <a:xfrm>
            <a:off x="841248" y="3108960"/>
            <a:ext cx="2203704" cy="274320"/>
          </a:xfrm>
          <a:prstGeom prst="rect">
            <a:avLst/>
          </a:prstGeom>
          <a:noFill/>
          <a:ln/>
        </p:spPr>
        <p:txBody>
          <a:bodyPr wrap="square" lIns="0" tIns="0" rIns="0" bIns="0" rtlCol="0" anchor="ctr"/>
          <a:lstStyle/>
          <a:p>
            <a:pPr indent="0" marL="0">
              <a:buNone/>
            </a:pPr>
            <a:r>
              <a:rPr lang="en-US" sz="1100" dirty="0">
                <a:solidFill>
                  <a:srgbClr val="8B95A2"/>
                </a:solidFill>
                <a:latin typeface="Calibri" pitchFamily="34" charset="0"/>
                <a:ea typeface="Calibri" pitchFamily="34" charset="-122"/>
                <a:cs typeface="Calibri" pitchFamily="34" charset="-120"/>
              </a:rPr>
              <a:t>AGPL-3.0</a:t>
            </a:r>
            <a:endParaRPr lang="en-US" sz="1100" dirty="0"/>
          </a:p>
        </p:txBody>
      </p:sp>
      <p:sp>
        <p:nvSpPr>
          <p:cNvPr id="13" name="Text 10"/>
          <p:cNvSpPr txBox="1"/>
          <p:nvPr/>
        </p:nvSpPr>
        <p:spPr>
          <a:xfrm>
            <a:off x="841248" y="3474720"/>
            <a:ext cx="2203704" cy="1737360"/>
          </a:xfrm>
          <a:prstGeom prst="rect">
            <a:avLst/>
          </a:prstGeom>
          <a:noFill/>
          <a:ln/>
        </p:spPr>
        <p:txBody>
          <a:bodyPr wrap="square" lIns="0" tIns="0" rIns="0" bIns="0" rtlCol="0" anchor="ctr"/>
          <a:lstStyle/>
          <a:p>
            <a:pPr indent="0" marL="0">
              <a:buNone/>
            </a:pPr>
            <a:r>
              <a:rPr lang="en-US" sz="1150" dirty="0">
                <a:solidFill>
                  <a:srgbClr val="DDE3EA"/>
                </a:solidFill>
                <a:latin typeface="Calibri" pitchFamily="34" charset="0"/>
                <a:ea typeface="Calibri" pitchFamily="34" charset="-122"/>
                <a:cs typeface="Calibri" pitchFamily="34" charset="-120"/>
              </a:rPr>
              <a:t>Everything. All repair classes, every language path, unlimited repositories, no feature gate.</a:t>
            </a:r>
            <a:endParaRPr lang="en-US" sz="1150" dirty="0"/>
          </a:p>
        </p:txBody>
      </p:sp>
      <p:sp>
        <p:nvSpPr>
          <p:cNvPr id="14" name="Shape 11"/>
          <p:cNvSpPr/>
          <p:nvPr/>
        </p:nvSpPr>
        <p:spPr>
          <a:xfrm>
            <a:off x="3401568" y="2057400"/>
            <a:ext cx="2606040" cy="3246120"/>
          </a:xfrm>
          <a:prstGeom prst="roundRect">
            <a:avLst>
              <a:gd name="adj" fmla="val 4912"/>
            </a:avLst>
          </a:prstGeom>
          <a:solidFill>
            <a:srgbClr val="121821"/>
          </a:solidFill>
          <a:ln w="19050">
            <a:solidFill>
              <a:srgbClr val="F2B441"/>
            </a:solidFill>
            <a:prstDash val="solid"/>
          </a:ln>
        </p:spPr>
      </p:sp>
      <p:sp>
        <p:nvSpPr>
          <p:cNvPr id="15" name="Text 12"/>
          <p:cNvSpPr txBox="1"/>
          <p:nvPr/>
        </p:nvSpPr>
        <p:spPr>
          <a:xfrm>
            <a:off x="3602736" y="2240280"/>
            <a:ext cx="2203704" cy="274320"/>
          </a:xfrm>
          <a:prstGeom prst="rect">
            <a:avLst/>
          </a:prstGeom>
          <a:noFill/>
          <a:ln/>
        </p:spPr>
        <p:txBody>
          <a:bodyPr wrap="square" lIns="0" tIns="0" rIns="0" bIns="0" rtlCol="0" anchor="ctr"/>
          <a:lstStyle/>
          <a:p>
            <a:pPr indent="0" marL="0">
              <a:buNone/>
            </a:pPr>
            <a:r>
              <a:rPr lang="en-US" sz="950" spc="150" kern="0" dirty="0">
                <a:solidFill>
                  <a:srgbClr val="F2B441"/>
                </a:solidFill>
                <a:latin typeface="Courier New" pitchFamily="34" charset="0"/>
                <a:ea typeface="Courier New" pitchFamily="34" charset="-122"/>
                <a:cs typeface="Courier New" pitchFamily="34" charset="-120"/>
              </a:rPr>
              <a:t>MEASUREMENT PILOT</a:t>
            </a:r>
            <a:endParaRPr lang="en-US" sz="950" dirty="0"/>
          </a:p>
        </p:txBody>
      </p:sp>
      <p:sp>
        <p:nvSpPr>
          <p:cNvPr id="16" name="Text 13"/>
          <p:cNvSpPr txBox="1"/>
          <p:nvPr/>
        </p:nvSpPr>
        <p:spPr>
          <a:xfrm>
            <a:off x="3602736" y="2560320"/>
            <a:ext cx="2203704" cy="548640"/>
          </a:xfrm>
          <a:prstGeom prst="rect">
            <a:avLst/>
          </a:prstGeom>
          <a:noFill/>
          <a:ln/>
        </p:spPr>
        <p:txBody>
          <a:bodyPr wrap="square" lIns="0" tIns="0" rIns="0" bIns="0" rtlCol="0" anchor="ctr"/>
          <a:lstStyle/>
          <a:p>
            <a:pPr indent="0" marL="0">
              <a:buNone/>
            </a:pPr>
            <a:r>
              <a:rPr lang="en-US" sz="2400" b="1" dirty="0">
                <a:solidFill>
                  <a:srgbClr val="FFFFFF"/>
                </a:solidFill>
                <a:latin typeface="Courier New" pitchFamily="34" charset="0"/>
                <a:ea typeface="Courier New" pitchFamily="34" charset="-122"/>
                <a:cs typeface="Courier New" pitchFamily="34" charset="-120"/>
              </a:rPr>
              <a:t>$5,000</a:t>
            </a:r>
            <a:endParaRPr lang="en-US" sz="2400" dirty="0"/>
          </a:p>
        </p:txBody>
      </p:sp>
      <p:sp>
        <p:nvSpPr>
          <p:cNvPr id="17" name="Text 14"/>
          <p:cNvSpPr txBox="1"/>
          <p:nvPr/>
        </p:nvSpPr>
        <p:spPr>
          <a:xfrm>
            <a:off x="3602736" y="3108960"/>
            <a:ext cx="2203704" cy="274320"/>
          </a:xfrm>
          <a:prstGeom prst="rect">
            <a:avLst/>
          </a:prstGeom>
          <a:noFill/>
          <a:ln/>
        </p:spPr>
        <p:txBody>
          <a:bodyPr wrap="square" lIns="0" tIns="0" rIns="0" bIns="0" rtlCol="0" anchor="ctr"/>
          <a:lstStyle/>
          <a:p>
            <a:pPr indent="0" marL="0">
              <a:buNone/>
            </a:pPr>
            <a:r>
              <a:rPr lang="en-US" sz="1100" dirty="0">
                <a:solidFill>
                  <a:srgbClr val="8B95A2"/>
                </a:solidFill>
                <a:latin typeface="Calibri" pitchFamily="34" charset="0"/>
                <a:ea typeface="Calibri" pitchFamily="34" charset="-122"/>
                <a:cs typeface="Calibri" pitchFamily="34" charset="-120"/>
              </a:rPr>
              <a:t>six weeks</a:t>
            </a:r>
            <a:endParaRPr lang="en-US" sz="1100" dirty="0"/>
          </a:p>
        </p:txBody>
      </p:sp>
      <p:sp>
        <p:nvSpPr>
          <p:cNvPr id="18" name="Text 15"/>
          <p:cNvSpPr txBox="1"/>
          <p:nvPr/>
        </p:nvSpPr>
        <p:spPr>
          <a:xfrm>
            <a:off x="3602736" y="3474720"/>
            <a:ext cx="2203704" cy="1737360"/>
          </a:xfrm>
          <a:prstGeom prst="rect">
            <a:avLst/>
          </a:prstGeom>
          <a:noFill/>
          <a:ln/>
        </p:spPr>
        <p:txBody>
          <a:bodyPr wrap="square" lIns="0" tIns="0" rIns="0" bIns="0" rtlCol="0" anchor="ctr"/>
          <a:lstStyle/>
          <a:p>
            <a:pPr indent="0" marL="0">
              <a:buNone/>
            </a:pPr>
            <a:r>
              <a:rPr lang="en-US" sz="1150" dirty="0">
                <a:solidFill>
                  <a:srgbClr val="DDE3EA"/>
                </a:solidFill>
                <a:latin typeface="Calibri" pitchFamily="34" charset="0"/>
                <a:ea typeface="Calibri" pitchFamily="34" charset="-122"/>
                <a:cs typeface="Calibri" pitchFamily="34" charset="-120"/>
              </a:rPr>
              <a:t>We run it on your history and your suite and produce the number: how many of your regressions are this shape, and what it would have saved. Credited in full against a licence.</a:t>
            </a:r>
            <a:endParaRPr lang="en-US" sz="1150" dirty="0"/>
          </a:p>
        </p:txBody>
      </p:sp>
      <p:sp>
        <p:nvSpPr>
          <p:cNvPr id="19" name="Shape 16"/>
          <p:cNvSpPr/>
          <p:nvPr/>
        </p:nvSpPr>
        <p:spPr>
          <a:xfrm>
            <a:off x="6163056" y="2057400"/>
            <a:ext cx="2606040" cy="3246120"/>
          </a:xfrm>
          <a:prstGeom prst="roundRect">
            <a:avLst>
              <a:gd name="adj" fmla="val 4912"/>
            </a:avLst>
          </a:prstGeom>
          <a:solidFill>
            <a:srgbClr val="121821"/>
          </a:solidFill>
          <a:ln w="12700">
            <a:solidFill>
              <a:srgbClr val="1F2A36"/>
            </a:solidFill>
            <a:prstDash val="solid"/>
          </a:ln>
        </p:spPr>
      </p:sp>
      <p:sp>
        <p:nvSpPr>
          <p:cNvPr id="20" name="Text 17"/>
          <p:cNvSpPr txBox="1"/>
          <p:nvPr/>
        </p:nvSpPr>
        <p:spPr>
          <a:xfrm>
            <a:off x="6364224" y="2240280"/>
            <a:ext cx="2203704" cy="274320"/>
          </a:xfrm>
          <a:prstGeom prst="rect">
            <a:avLst/>
          </a:prstGeom>
          <a:noFill/>
          <a:ln/>
        </p:spPr>
        <p:txBody>
          <a:bodyPr wrap="square" lIns="0" tIns="0" rIns="0" bIns="0" rtlCol="0" anchor="ctr"/>
          <a:lstStyle/>
          <a:p>
            <a:pPr indent="0" marL="0">
              <a:buNone/>
            </a:pPr>
            <a:r>
              <a:rPr lang="en-US" sz="950" spc="150" kern="0" dirty="0">
                <a:solidFill>
                  <a:srgbClr val="F2B441"/>
                </a:solidFill>
                <a:latin typeface="Courier New" pitchFamily="34" charset="0"/>
                <a:ea typeface="Courier New" pitchFamily="34" charset="-122"/>
                <a:cs typeface="Courier New" pitchFamily="34" charset="-120"/>
              </a:rPr>
              <a:t>COMMERCIAL LICENCE</a:t>
            </a:r>
            <a:endParaRPr lang="en-US" sz="950" dirty="0"/>
          </a:p>
        </p:txBody>
      </p:sp>
      <p:sp>
        <p:nvSpPr>
          <p:cNvPr id="21" name="Text 18"/>
          <p:cNvSpPr txBox="1"/>
          <p:nvPr/>
        </p:nvSpPr>
        <p:spPr>
          <a:xfrm>
            <a:off x="6364224" y="2560320"/>
            <a:ext cx="2203704" cy="548640"/>
          </a:xfrm>
          <a:prstGeom prst="rect">
            <a:avLst/>
          </a:prstGeom>
          <a:noFill/>
          <a:ln/>
        </p:spPr>
        <p:txBody>
          <a:bodyPr wrap="square" lIns="0" tIns="0" rIns="0" bIns="0" rtlCol="0" anchor="ctr"/>
          <a:lstStyle/>
          <a:p>
            <a:pPr indent="0" marL="0">
              <a:buNone/>
            </a:pPr>
            <a:r>
              <a:rPr lang="en-US" sz="2400" b="1" dirty="0">
                <a:solidFill>
                  <a:srgbClr val="FFFFFF"/>
                </a:solidFill>
                <a:latin typeface="Courier New" pitchFamily="34" charset="0"/>
                <a:ea typeface="Courier New" pitchFamily="34" charset="-122"/>
                <a:cs typeface="Courier New" pitchFamily="34" charset="-120"/>
              </a:rPr>
              <a:t>$12,000</a:t>
            </a:r>
            <a:endParaRPr lang="en-US" sz="2400" dirty="0"/>
          </a:p>
        </p:txBody>
      </p:sp>
      <p:sp>
        <p:nvSpPr>
          <p:cNvPr id="22" name="Text 19"/>
          <p:cNvSpPr txBox="1"/>
          <p:nvPr/>
        </p:nvSpPr>
        <p:spPr>
          <a:xfrm>
            <a:off x="6364224" y="3108960"/>
            <a:ext cx="2203704" cy="274320"/>
          </a:xfrm>
          <a:prstGeom prst="rect">
            <a:avLst/>
          </a:prstGeom>
          <a:noFill/>
          <a:ln/>
        </p:spPr>
        <p:txBody>
          <a:bodyPr wrap="square" lIns="0" tIns="0" rIns="0" bIns="0" rtlCol="0" anchor="ctr"/>
          <a:lstStyle/>
          <a:p>
            <a:pPr indent="0" marL="0">
              <a:buNone/>
            </a:pPr>
            <a:r>
              <a:rPr lang="en-US" sz="1100" dirty="0">
                <a:solidFill>
                  <a:srgbClr val="8B95A2"/>
                </a:solidFill>
                <a:latin typeface="Calibri" pitchFamily="34" charset="0"/>
                <a:ea typeface="Calibri" pitchFamily="34" charset="-122"/>
                <a:cs typeface="Calibri" pitchFamily="34" charset="-120"/>
              </a:rPr>
              <a:t>per year</a:t>
            </a:r>
            <a:endParaRPr lang="en-US" sz="1100" dirty="0"/>
          </a:p>
        </p:txBody>
      </p:sp>
      <p:sp>
        <p:nvSpPr>
          <p:cNvPr id="23" name="Text 20"/>
          <p:cNvSpPr txBox="1"/>
          <p:nvPr/>
        </p:nvSpPr>
        <p:spPr>
          <a:xfrm>
            <a:off x="6364224" y="3474720"/>
            <a:ext cx="2203704" cy="1737360"/>
          </a:xfrm>
          <a:prstGeom prst="rect">
            <a:avLst/>
          </a:prstGeom>
          <a:noFill/>
          <a:ln/>
        </p:spPr>
        <p:txBody>
          <a:bodyPr wrap="square" lIns="0" tIns="0" rIns="0" bIns="0" rtlCol="0" anchor="ctr"/>
          <a:lstStyle/>
          <a:p>
            <a:pPr indent="0" marL="0">
              <a:buNone/>
            </a:pPr>
            <a:r>
              <a:rPr lang="en-US" sz="1150" dirty="0">
                <a:solidFill>
                  <a:srgbClr val="DDE3EA"/>
                </a:solidFill>
                <a:latin typeface="Calibri" pitchFamily="34" charset="0"/>
                <a:ea typeface="Calibri" pitchFamily="34" charset="-122"/>
                <a:cs typeface="Calibri" pitchFamily="34" charset="-120"/>
              </a:rPr>
              <a:t>Closed-source use, up to 10 repositories, one language path, CI integration, the hotspots report.</a:t>
            </a:r>
            <a:endParaRPr lang="en-US" sz="1150" dirty="0"/>
          </a:p>
        </p:txBody>
      </p:sp>
      <p:sp>
        <p:nvSpPr>
          <p:cNvPr id="24" name="Shape 21"/>
          <p:cNvSpPr/>
          <p:nvPr/>
        </p:nvSpPr>
        <p:spPr>
          <a:xfrm>
            <a:off x="8924544" y="2057400"/>
            <a:ext cx="2606040" cy="3246120"/>
          </a:xfrm>
          <a:prstGeom prst="roundRect">
            <a:avLst>
              <a:gd name="adj" fmla="val 4912"/>
            </a:avLst>
          </a:prstGeom>
          <a:solidFill>
            <a:srgbClr val="121821"/>
          </a:solidFill>
          <a:ln w="12700">
            <a:solidFill>
              <a:srgbClr val="1F2A36"/>
            </a:solidFill>
            <a:prstDash val="solid"/>
          </a:ln>
        </p:spPr>
      </p:sp>
      <p:sp>
        <p:nvSpPr>
          <p:cNvPr id="25" name="Text 22"/>
          <p:cNvSpPr txBox="1"/>
          <p:nvPr/>
        </p:nvSpPr>
        <p:spPr>
          <a:xfrm>
            <a:off x="9125712" y="2240280"/>
            <a:ext cx="2203704" cy="274320"/>
          </a:xfrm>
          <a:prstGeom prst="rect">
            <a:avLst/>
          </a:prstGeom>
          <a:noFill/>
          <a:ln/>
        </p:spPr>
        <p:txBody>
          <a:bodyPr wrap="square" lIns="0" tIns="0" rIns="0" bIns="0" rtlCol="0" anchor="ctr"/>
          <a:lstStyle/>
          <a:p>
            <a:pPr indent="0" marL="0">
              <a:buNone/>
            </a:pPr>
            <a:r>
              <a:rPr lang="en-US" sz="950" spc="150" kern="0" dirty="0">
                <a:solidFill>
                  <a:srgbClr val="F2B441"/>
                </a:solidFill>
                <a:latin typeface="Courier New" pitchFamily="34" charset="0"/>
                <a:ea typeface="Courier New" pitchFamily="34" charset="-122"/>
                <a:cs typeface="Courier New" pitchFamily="34" charset="-120"/>
              </a:rPr>
              <a:t>STUDIO</a:t>
            </a:r>
            <a:endParaRPr lang="en-US" sz="950" dirty="0"/>
          </a:p>
        </p:txBody>
      </p:sp>
      <p:sp>
        <p:nvSpPr>
          <p:cNvPr id="26" name="Text 23"/>
          <p:cNvSpPr txBox="1"/>
          <p:nvPr/>
        </p:nvSpPr>
        <p:spPr>
          <a:xfrm>
            <a:off x="9125712" y="2560320"/>
            <a:ext cx="2203704" cy="548640"/>
          </a:xfrm>
          <a:prstGeom prst="rect">
            <a:avLst/>
          </a:prstGeom>
          <a:noFill/>
          <a:ln/>
        </p:spPr>
        <p:txBody>
          <a:bodyPr wrap="square" lIns="0" tIns="0" rIns="0" bIns="0" rtlCol="0" anchor="ctr"/>
          <a:lstStyle/>
          <a:p>
            <a:pPr indent="0" marL="0">
              <a:buNone/>
            </a:pPr>
            <a:r>
              <a:rPr lang="en-US" sz="2400" b="1" dirty="0">
                <a:solidFill>
                  <a:srgbClr val="FFFFFF"/>
                </a:solidFill>
                <a:latin typeface="Courier New" pitchFamily="34" charset="0"/>
                <a:ea typeface="Courier New" pitchFamily="34" charset="-122"/>
                <a:cs typeface="Courier New" pitchFamily="34" charset="-120"/>
              </a:rPr>
              <a:t>$40,000</a:t>
            </a:r>
            <a:endParaRPr lang="en-US" sz="2400" dirty="0"/>
          </a:p>
        </p:txBody>
      </p:sp>
      <p:sp>
        <p:nvSpPr>
          <p:cNvPr id="27" name="Text 24"/>
          <p:cNvSpPr txBox="1"/>
          <p:nvPr/>
        </p:nvSpPr>
        <p:spPr>
          <a:xfrm>
            <a:off x="9125712" y="3108960"/>
            <a:ext cx="2203704" cy="274320"/>
          </a:xfrm>
          <a:prstGeom prst="rect">
            <a:avLst/>
          </a:prstGeom>
          <a:noFill/>
          <a:ln/>
        </p:spPr>
        <p:txBody>
          <a:bodyPr wrap="square" lIns="0" tIns="0" rIns="0" bIns="0" rtlCol="0" anchor="ctr"/>
          <a:lstStyle/>
          <a:p>
            <a:pPr indent="0" marL="0">
              <a:buNone/>
            </a:pPr>
            <a:r>
              <a:rPr lang="en-US" sz="1100" dirty="0">
                <a:solidFill>
                  <a:srgbClr val="8B95A2"/>
                </a:solidFill>
                <a:latin typeface="Calibri" pitchFamily="34" charset="0"/>
                <a:ea typeface="Calibri" pitchFamily="34" charset="-122"/>
                <a:cs typeface="Calibri" pitchFamily="34" charset="-120"/>
              </a:rPr>
              <a:t>per year</a:t>
            </a:r>
            <a:endParaRPr lang="en-US" sz="1100" dirty="0"/>
          </a:p>
        </p:txBody>
      </p:sp>
      <p:sp>
        <p:nvSpPr>
          <p:cNvPr id="28" name="Text 25"/>
          <p:cNvSpPr txBox="1"/>
          <p:nvPr/>
        </p:nvSpPr>
        <p:spPr>
          <a:xfrm>
            <a:off x="9125712" y="3474720"/>
            <a:ext cx="2203704" cy="1737360"/>
          </a:xfrm>
          <a:prstGeom prst="rect">
            <a:avLst/>
          </a:prstGeom>
          <a:noFill/>
          <a:ln/>
        </p:spPr>
        <p:txBody>
          <a:bodyPr wrap="square" lIns="0" tIns="0" rIns="0" bIns="0" rtlCol="0" anchor="ctr"/>
          <a:lstStyle/>
          <a:p>
            <a:pPr indent="0" marL="0">
              <a:buNone/>
            </a:pPr>
            <a:r>
              <a:rPr lang="en-US" sz="1150" dirty="0">
                <a:solidFill>
                  <a:srgbClr val="DDE3EA"/>
                </a:solidFill>
                <a:latin typeface="Calibri" pitchFamily="34" charset="0"/>
                <a:ea typeface="Calibri" pitchFamily="34" charset="-122"/>
                <a:cs typeface="Calibri" pitchFamily="34" charset="-120"/>
              </a:rPr>
              <a:t>Unlimited repositories, all paths, and we author and maintain the repair classes from your own incident history.</a:t>
            </a:r>
            <a:endParaRPr lang="en-US" sz="1150" dirty="0"/>
          </a:p>
        </p:txBody>
      </p:sp>
      <p:sp>
        <p:nvSpPr>
          <p:cNvPr id="29" name="Text 26"/>
          <p:cNvSpPr txBox="1"/>
          <p:nvPr/>
        </p:nvSpPr>
        <p:spPr>
          <a:xfrm>
            <a:off x="640080" y="5532120"/>
            <a:ext cx="10972800" cy="320040"/>
          </a:xfrm>
          <a:prstGeom prst="rect">
            <a:avLst/>
          </a:prstGeom>
          <a:noFill/>
          <a:ln/>
        </p:spPr>
        <p:txBody>
          <a:bodyPr wrap="square" lIns="0" tIns="0" rIns="0" bIns="0" rtlCol="0" anchor="ctr"/>
          <a:lstStyle/>
          <a:p>
            <a:pPr indent="0" marL="0">
              <a:buNone/>
            </a:pPr>
            <a:r>
              <a:rPr lang="en-US" sz="1250" dirty="0">
                <a:solidFill>
                  <a:srgbClr val="8B95A2"/>
                </a:solidFill>
                <a:latin typeface="Calibri" pitchFamily="34" charset="0"/>
                <a:ea typeface="Calibri" pitchFamily="34" charset="-122"/>
                <a:cs typeface="Calibri" pitchFamily="34" charset="-120"/>
              </a:rPr>
              <a:t>No per-seat pricing: it runs on your machine and costs nothing per repair.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640080" y="475488"/>
            <a:ext cx="274320" cy="274320"/>
          </a:xfrm>
          <a:prstGeom prst="roundRect">
            <a:avLst>
              <a:gd name="adj" fmla="val 20000"/>
            </a:avLst>
          </a:prstGeom>
          <a:solidFill>
            <a:srgbClr val="F2B441"/>
          </a:solidFill>
          <a:ln w="12700">
            <a:solidFill>
              <a:srgbClr val="F2B441"/>
            </a:solidFill>
            <a:prstDash val="solid"/>
          </a:ln>
        </p:spPr>
      </p:sp>
      <p:sp>
        <p:nvSpPr>
          <p:cNvPr id="3" name="Shape 1"/>
          <p:cNvSpPr/>
          <p:nvPr/>
        </p:nvSpPr>
        <p:spPr>
          <a:xfrm>
            <a:off x="722376" y="557784"/>
            <a:ext cx="109728" cy="109728"/>
          </a:xfrm>
          <a:prstGeom prst="roundRect">
            <a:avLst>
              <a:gd name="adj" fmla="val 16667"/>
            </a:avLst>
          </a:prstGeom>
          <a:solidFill>
            <a:srgbClr val="0B0F14"/>
          </a:solidFill>
          <a:ln w="12700">
            <a:solidFill>
              <a:srgbClr val="0B0F14"/>
            </a:solidFill>
            <a:prstDash val="solid"/>
          </a:ln>
        </p:spPr>
      </p:sp>
      <p:sp>
        <p:nvSpPr>
          <p:cNvPr id="4" name="Text 2"/>
          <p:cNvSpPr txBox="1"/>
          <p:nvPr/>
        </p:nvSpPr>
        <p:spPr>
          <a:xfrm>
            <a:off x="1024128" y="438912"/>
            <a:ext cx="7315200" cy="347472"/>
          </a:xfrm>
          <a:prstGeom prst="rect">
            <a:avLst/>
          </a:prstGeom>
          <a:noFill/>
          <a:ln/>
        </p:spPr>
        <p:txBody>
          <a:bodyPr wrap="square" lIns="0" tIns="0" rIns="0" bIns="0" rtlCol="0" anchor="ctr"/>
          <a:lstStyle/>
          <a:p>
            <a:pPr indent="0" marL="0">
              <a:buNone/>
            </a:pPr>
            <a:r>
              <a:rPr lang="en-US" sz="1100" spc="200" kern="0" dirty="0">
                <a:solidFill>
                  <a:srgbClr val="F2B441"/>
                </a:solidFill>
                <a:latin typeface="Courier New" pitchFamily="34" charset="0"/>
                <a:ea typeface="Courier New" pitchFamily="34" charset="-122"/>
                <a:cs typeface="Courier New" pitchFamily="34" charset="-120"/>
              </a:rPr>
              <a:t>NEXT STEP</a:t>
            </a:r>
            <a:endParaRPr lang="en-US" sz="1100" dirty="0"/>
          </a:p>
        </p:txBody>
      </p:sp>
      <p:sp>
        <p:nvSpPr>
          <p:cNvPr id="5" name="Text 3"/>
          <p:cNvSpPr txBox="1"/>
          <p:nvPr/>
        </p:nvSpPr>
        <p:spPr>
          <a:xfrm>
            <a:off x="640080" y="6291072"/>
            <a:ext cx="7315200" cy="274320"/>
          </a:xfrm>
          <a:prstGeom prst="rect">
            <a:avLst/>
          </a:prstGeom>
          <a:noFill/>
          <a:ln/>
        </p:spPr>
        <p:txBody>
          <a:bodyPr wrap="square" lIns="0" tIns="0" rIns="0" bIns="0" rtlCol="0" anchor="ctr"/>
          <a:lstStyle/>
          <a:p>
            <a:pPr indent="0" marL="0">
              <a:buNone/>
            </a:pPr>
            <a:r>
              <a:rPr lang="en-US" sz="900" dirty="0">
                <a:solidFill>
                  <a:srgbClr val="5A6572"/>
                </a:solidFill>
                <a:latin typeface="Courier New" pitchFamily="34" charset="0"/>
                <a:ea typeface="Courier New" pitchFamily="34" charset="-122"/>
                <a:cs typeface="Courier New" pitchFamily="34" charset="-120"/>
              </a:rPr>
              <a:t>fluidfix · github.com/devkancheti4-design/fluidfix</a:t>
            </a:r>
            <a:endParaRPr lang="en-US" sz="900" dirty="0"/>
          </a:p>
        </p:txBody>
      </p:sp>
      <p:sp>
        <p:nvSpPr>
          <p:cNvPr id="6" name="Text 4"/>
          <p:cNvSpPr txBox="1"/>
          <p:nvPr/>
        </p:nvSpPr>
        <p:spPr>
          <a:xfrm>
            <a:off x="10634472" y="6291072"/>
            <a:ext cx="914400" cy="274320"/>
          </a:xfrm>
          <a:prstGeom prst="rect">
            <a:avLst/>
          </a:prstGeom>
          <a:noFill/>
          <a:ln/>
        </p:spPr>
        <p:txBody>
          <a:bodyPr wrap="square" lIns="0" tIns="0" rIns="0" bIns="0" rtlCol="0" anchor="ctr"/>
          <a:lstStyle/>
          <a:p>
            <a:pPr algn="r" indent="0" marL="0">
              <a:buNone/>
            </a:pPr>
            <a:r>
              <a:rPr lang="en-US" sz="900" dirty="0">
                <a:solidFill>
                  <a:srgbClr val="5A6572"/>
                </a:solidFill>
                <a:latin typeface="Courier New" pitchFamily="34" charset="0"/>
                <a:ea typeface="Courier New" pitchFamily="34" charset="-122"/>
                <a:cs typeface="Courier New" pitchFamily="34" charset="-120"/>
              </a:rPr>
              <a:t>10</a:t>
            </a:r>
            <a:endParaRPr lang="en-US" sz="900" dirty="0"/>
          </a:p>
        </p:txBody>
      </p:sp>
      <p:sp>
        <p:nvSpPr>
          <p:cNvPr id="8" name="Text 5"/>
          <p:cNvSpPr txBox="1"/>
          <p:nvPr/>
        </p:nvSpPr>
        <p:spPr>
          <a:xfrm>
            <a:off x="640080" y="1737360"/>
            <a:ext cx="10058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Twenty minutes. </a:t>
            </a:r>
            <a:pPr indent="0" marL="0">
              <a:buNone/>
            </a:pPr>
            <a:r>
              <a:rPr lang="en-US" sz="4400" b="1" dirty="0">
                <a:solidFill>
                  <a:srgbClr val="F2B441"/>
                </a:solidFill>
                <a:latin typeface="Calibri" pitchFamily="34" charset="0"/>
                <a:ea typeface="Calibri" pitchFamily="34" charset="-122"/>
                <a:cs typeface="Calibri" pitchFamily="34" charset="-120"/>
              </a:rPr>
              <a:t>Bring a repo.</a:t>
            </a:r>
            <a:endParaRPr lang="en-US" sz="4400" dirty="0"/>
          </a:p>
        </p:txBody>
      </p:sp>
      <p:sp>
        <p:nvSpPr>
          <p:cNvPr id="9" name="Text 6"/>
          <p:cNvSpPr txBox="1"/>
          <p:nvPr/>
        </p:nvSpPr>
        <p:spPr>
          <a:xfrm>
            <a:off x="640080" y="2880360"/>
            <a:ext cx="7863840" cy="1188720"/>
          </a:xfrm>
          <a:prstGeom prst="rect">
            <a:avLst/>
          </a:prstGeom>
          <a:noFill/>
          <a:ln/>
        </p:spPr>
        <p:txBody>
          <a:bodyPr wrap="square" lIns="0" tIns="0" rIns="0" bIns="0" rtlCol="0" anchor="t"/>
          <a:lstStyle/>
          <a:p>
            <a:pPr indent="0" marL="0">
              <a:spcAft>
                <a:spcPts val="800"/>
              </a:spcAft>
              <a:buNone/>
            </a:pPr>
            <a:r>
              <a:rPr lang="en-US" sz="1700" dirty="0">
                <a:solidFill>
                  <a:srgbClr val="8B95A2"/>
                </a:solidFill>
                <a:latin typeface="Calibri" pitchFamily="34" charset="0"/>
                <a:ea typeface="Calibri" pitchFamily="34" charset="-122"/>
                <a:cs typeface="Calibri" pitchFamily="34" charset="-120"/>
              </a:rPr>
              <a:t>We point it at one repository you already have, live, and you watch it restore a real regression or refuse it and say why. Then we scope the pilot against your own history.</a:t>
            </a:r>
            <a:endParaRPr lang="en-US" sz="1700" dirty="0"/>
          </a:p>
        </p:txBody>
      </p:sp>
      <p:sp>
        <p:nvSpPr>
          <p:cNvPr id="10" name="Shape 7"/>
          <p:cNvSpPr/>
          <p:nvPr/>
        </p:nvSpPr>
        <p:spPr>
          <a:xfrm>
            <a:off x="640080" y="4343400"/>
            <a:ext cx="6583680" cy="1325880"/>
          </a:xfrm>
          <a:prstGeom prst="roundRect">
            <a:avLst>
              <a:gd name="adj" fmla="val 9655"/>
            </a:avLst>
          </a:prstGeom>
          <a:solidFill>
            <a:srgbClr val="121821"/>
          </a:solidFill>
          <a:ln w="12700">
            <a:solidFill>
              <a:srgbClr val="1F2A36"/>
            </a:solidFill>
            <a:prstDash val="solid"/>
          </a:ln>
        </p:spPr>
      </p:sp>
      <p:sp>
        <p:nvSpPr>
          <p:cNvPr id="11" name="Text 8"/>
          <p:cNvSpPr txBox="1"/>
          <p:nvPr/>
        </p:nvSpPr>
        <p:spPr>
          <a:xfrm>
            <a:off x="914400" y="4480560"/>
            <a:ext cx="6126480" cy="1051560"/>
          </a:xfrm>
          <a:prstGeom prst="rect">
            <a:avLst/>
          </a:prstGeom>
          <a:noFill/>
          <a:ln/>
        </p:spPr>
        <p:txBody>
          <a:bodyPr wrap="square" lIns="0" tIns="0" rIns="0" bIns="0" rtlCol="0" anchor="ctr"/>
          <a:lstStyle/>
          <a:p>
            <a:pPr indent="0" marL="0">
              <a:spcAft>
                <a:spcPts val="600"/>
              </a:spcAft>
              <a:buNone/>
            </a:pPr>
            <a:r>
              <a:rPr lang="en-US" sz="1300" b="1" dirty="0">
                <a:solidFill>
                  <a:srgbClr val="FFFFFF"/>
                </a:solidFill>
                <a:latin typeface="Courier New" pitchFamily="34" charset="0"/>
                <a:ea typeface="Courier New" pitchFamily="34" charset="-122"/>
                <a:cs typeface="Courier New" pitchFamily="34" charset="-120"/>
              </a:rPr>
              <a:t>devkancheti4@gmail.com</a:t>
            </a:r>
            <a:endParaRPr lang="en-US" sz="1300" dirty="0"/>
          </a:p>
          <a:p>
            <a:pPr indent="0" marL="0">
              <a:spcAft>
                <a:spcPts val="600"/>
              </a:spcAft>
              <a:buNone/>
            </a:pPr>
            <a:r>
              <a:rPr lang="en-US" sz="1300" dirty="0">
                <a:solidFill>
                  <a:srgbClr val="8B95A2"/>
                </a:solidFill>
                <a:latin typeface="Courier New" pitchFamily="34" charset="0"/>
                <a:ea typeface="Courier New" pitchFamily="34" charset="-122"/>
                <a:cs typeface="Courier New" pitchFamily="34" charset="-120"/>
              </a:rPr>
              <a:t>github.com/devkancheti4-design/fluidfix   ·   pypi.org/project/fluidfix</a:t>
            </a:r>
            <a:endParaRPr lang="en-US" sz="1300" dirty="0"/>
          </a:p>
        </p:txBody>
      </p:sp>
      <p:sp>
        <p:nvSpPr>
          <p:cNvPr id="12" name="Text 9"/>
          <p:cNvSpPr txBox="1"/>
          <p:nvPr/>
        </p:nvSpPr>
        <p:spPr>
          <a:xfrm>
            <a:off x="7589520" y="4343400"/>
            <a:ext cx="4023360" cy="13258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Repairs the bug. </a:t>
            </a:r>
            <a:pPr indent="0" marL="0">
              <a:buNone/>
            </a:pPr>
            <a:r>
              <a:rPr lang="en-US" sz="2000" b="1" dirty="0">
                <a:solidFill>
                  <a:srgbClr val="F2B441"/>
                </a:solidFill>
                <a:latin typeface="Calibri" pitchFamily="34" charset="0"/>
                <a:ea typeface="Calibri" pitchFamily="34" charset="-122"/>
                <a:cs typeface="Calibri" pitchFamily="34" charset="-120"/>
              </a:rPr>
              <a:t>Refuses the guess.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fluidfix</dc:title>
  <dc:subject>PptxGenJS Presentation</dc:subject>
  <dc:creator>Devieswar Kancheti</dc:creator>
  <cp:lastModifiedBy>Devieswar Kancheti</cp:lastModifiedBy>
  <cp:revision>1</cp:revision>
  <dcterms:created xsi:type="dcterms:W3CDTF">2026-09-15T16:25:56Z</dcterms:created>
  <dcterms:modified xsi:type="dcterms:W3CDTF">2026-09-15T16:25:56Z</dcterms:modified>
</cp:coreProperties>
</file>